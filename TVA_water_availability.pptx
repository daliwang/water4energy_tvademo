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7" r:id="rId6"/>
    <p:sldId id="264" r:id="rId7"/>
    <p:sldId id="268" r:id="rId8"/>
    <p:sldId id="265" r:id="rId9"/>
    <p:sldId id="273" r:id="rId1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09"/>
    <p:restoredTop sz="93082"/>
  </p:normalViewPr>
  <p:slideViewPr>
    <p:cSldViewPr snapToGrid="0">
      <p:cViewPr varScale="1">
        <p:scale>
          <a:sx n="113" d="100"/>
          <a:sy n="113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Mean share of training split gain</c:v>
          </c:tx>
          <c:spPr>
            <a:solidFill>
              <a:srgbClr val="D66A28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26-BA47-A129-CC0386C692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C26-BA47-A129-CC0386C6927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C26-BA47-A129-CC0386C6927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C26-BA47-A129-CC0386C6927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373A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Elevation</c:v>
                </c:pt>
                <c:pt idx="1">
                  <c:v>Temperature</c:v>
                </c:pt>
                <c:pt idx="2">
                  <c:v>Precipitation</c:v>
                </c:pt>
                <c:pt idx="3">
                  <c:v>Runoff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</c:v>
                </c:pt>
                <c:pt idx="1">
                  <c:v>3.6590116150199997E-2</c:v>
                </c:pt>
                <c:pt idx="2">
                  <c:v>0.23227392711700001</c:v>
                </c:pt>
                <c:pt idx="3">
                  <c:v>0.73113595673300003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26-BA47-A129-CC0386C69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8"/>
          <c:min val="0"/>
        </c:scaling>
        <c:delete val="0"/>
        <c:axPos val="b"/>
        <c:majorGridlines>
          <c:spPr>
            <a:ln w="5715">
              <a:solidFill>
                <a:srgbClr val="D7DFD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373A36"/>
                    </a:solidFill>
                    <a:latin typeface="Aptos"/>
                    <a:ea typeface="Aptos"/>
                    <a:cs typeface="Aptos"/>
                  </a:rPr>
                  <a:t>Mean share of training split gain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NSE difference</c:v>
          </c:tx>
          <c:spPr>
            <a:solidFill>
              <a:srgbClr val="007A3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1-34DD-584E-A1D9-422409FD6BF3}"/>
              </c:ext>
            </c:extLst>
          </c:dPt>
          <c:dPt>
            <c:idx val="1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3-34DD-584E-A1D9-422409FD6BF3}"/>
              </c:ext>
            </c:extLst>
          </c:dPt>
          <c:dPt>
            <c:idx val="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5-34DD-584E-A1D9-422409FD6BF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4DD-584E-A1D9-422409FD6BF3}"/>
              </c:ext>
            </c:extLst>
          </c:dPt>
          <c:dPt>
            <c:idx val="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9-34DD-584E-A1D9-422409FD6BF3}"/>
              </c:ext>
            </c:extLst>
          </c:dPt>
          <c:dPt>
            <c:idx val="5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B-34DD-584E-A1D9-422409FD6BF3}"/>
              </c:ext>
            </c:extLst>
          </c:dPt>
          <c:dPt>
            <c:idx val="6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D-34DD-584E-A1D9-422409FD6BF3}"/>
              </c:ext>
            </c:extLst>
          </c:dPt>
          <c:dPt>
            <c:idx val="7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F-34DD-584E-A1D9-422409FD6BF3}"/>
              </c:ext>
            </c:extLst>
          </c:dPt>
          <c:dPt>
            <c:idx val="8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1-34DD-584E-A1D9-422409FD6BF3}"/>
              </c:ext>
            </c:extLst>
          </c:dPt>
          <c:dPt>
            <c:idx val="9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3-34DD-584E-A1D9-422409FD6BF3}"/>
              </c:ext>
            </c:extLst>
          </c:dPt>
          <c:dPt>
            <c:idx val="10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5-34DD-584E-A1D9-422409FD6BF3}"/>
              </c:ext>
            </c:extLst>
          </c:dPt>
          <c:dPt>
            <c:idx val="11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7-34DD-584E-A1D9-422409FD6BF3}"/>
              </c:ext>
            </c:extLst>
          </c:dPt>
          <c:dPt>
            <c:idx val="1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9-34DD-584E-A1D9-422409FD6BF3}"/>
              </c:ext>
            </c:extLst>
          </c:dPt>
          <c:dPt>
            <c:idx val="13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B-34DD-584E-A1D9-422409FD6BF3}"/>
              </c:ext>
            </c:extLst>
          </c:dPt>
          <c:dPt>
            <c:idx val="1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D-34DD-584E-A1D9-422409FD6BF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34DD-584E-A1D9-422409FD6BF3}"/>
              </c:ext>
            </c:extLst>
          </c:dPt>
          <c:dPt>
            <c:idx val="16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1-34DD-584E-A1D9-422409FD6BF3}"/>
              </c:ext>
            </c:extLst>
          </c:dPt>
          <c:dPt>
            <c:idx val="17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3-34DD-584E-A1D9-422409FD6BF3}"/>
              </c:ext>
            </c:extLst>
          </c:dPt>
          <c:dPt>
            <c:idx val="18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5-34DD-584E-A1D9-422409FD6BF3}"/>
              </c:ext>
            </c:extLst>
          </c:dPt>
          <c:dPt>
            <c:idx val="19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7-34DD-584E-A1D9-422409FD6BF3}"/>
              </c:ext>
            </c:extLst>
          </c:dPt>
          <c:dPt>
            <c:idx val="20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9-34DD-584E-A1D9-422409FD6BF3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34DD-584E-A1D9-422409FD6BF3}"/>
              </c:ext>
            </c:extLst>
          </c:dPt>
          <c:dPt>
            <c:idx val="2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D-34DD-584E-A1D9-422409FD6BF3}"/>
              </c:ext>
            </c:extLst>
          </c:dPt>
          <c:dPt>
            <c:idx val="23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F-34DD-584E-A1D9-422409FD6BF3}"/>
              </c:ext>
            </c:extLst>
          </c:dPt>
          <c:dPt>
            <c:idx val="2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31-34DD-584E-A1D9-422409FD6BF3}"/>
              </c:ext>
            </c:extLst>
          </c:dPt>
          <c:dPt>
            <c:idx val="25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33-34DD-584E-A1D9-422409FD6BF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>
                    <a:solidFill>
                      <a:srgbClr val="373A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Data'!$A$2:$A$27</c:f>
              <c:strCache>
                <c:ptCount val="26"/>
                <c:pt idx="0">
                  <c:v>ELF26 Whitwell</c:v>
                </c:pt>
                <c:pt idx="1">
                  <c:v>ELF25 South Chickamauga Creek</c:v>
                </c:pt>
                <c:pt idx="2">
                  <c:v>ELF24 Charleston</c:v>
                </c:pt>
                <c:pt idx="3">
                  <c:v>ELF23 Ocoee No. 1</c:v>
                </c:pt>
                <c:pt idx="4">
                  <c:v>ELF22 Copperhill</c:v>
                </c:pt>
                <c:pt idx="5">
                  <c:v>ELF21 Blue Ridge</c:v>
                </c:pt>
                <c:pt idx="6">
                  <c:v>ELF20 Apalachia</c:v>
                </c:pt>
                <c:pt idx="7">
                  <c:v>ELF19 Hiwassee</c:v>
                </c:pt>
                <c:pt idx="8">
                  <c:v>ELF18 Nottely</c:v>
                </c:pt>
                <c:pt idx="9">
                  <c:v>ELF17 Chatuge</c:v>
                </c:pt>
                <c:pt idx="10">
                  <c:v>ELF16 Oakdale</c:v>
                </c:pt>
                <c:pt idx="11">
                  <c:v>ELF15 Melton Hill</c:v>
                </c:pt>
                <c:pt idx="12">
                  <c:v>ELF14 Clinton</c:v>
                </c:pt>
                <c:pt idx="13">
                  <c:v>ELF13 Norris</c:v>
                </c:pt>
                <c:pt idx="14">
                  <c:v>ELF12 Tellico</c:v>
                </c:pt>
                <c:pt idx="15">
                  <c:v>ELF11 Chilhowee</c:v>
                </c:pt>
                <c:pt idx="16">
                  <c:v>ELF10 Fontana</c:v>
                </c:pt>
                <c:pt idx="17">
                  <c:v>ELF09 Maryville</c:v>
                </c:pt>
                <c:pt idx="18">
                  <c:v>ELF08 Cherokee</c:v>
                </c:pt>
                <c:pt idx="19">
                  <c:v>ELF07 Kingsport</c:v>
                </c:pt>
                <c:pt idx="20">
                  <c:v>ELF06 Boone</c:v>
                </c:pt>
                <c:pt idx="21">
                  <c:v>ELF05 Elizabethton</c:v>
                </c:pt>
                <c:pt idx="22">
                  <c:v>ELF04 Watauga</c:v>
                </c:pt>
                <c:pt idx="23">
                  <c:v>ELF03 South Holston</c:v>
                </c:pt>
                <c:pt idx="24">
                  <c:v>ELF02 Sevierville</c:v>
                </c:pt>
                <c:pt idx="25">
                  <c:v>ELF01 Douglas</c:v>
                </c:pt>
              </c:strCache>
            </c:strRef>
          </c:cat>
          <c:val>
            <c:numRef>
              <c:f>'Chart Data'!$B$2:$B$27</c:f>
              <c:numCache>
                <c:formatCode>0.0</c:formatCode>
                <c:ptCount val="26"/>
                <c:pt idx="0">
                  <c:v>-5.36361508805E-2</c:v>
                </c:pt>
                <c:pt idx="1">
                  <c:v>-6.8074405001700006E-2</c:v>
                </c:pt>
                <c:pt idx="2">
                  <c:v>-0.13697936454699999</c:v>
                </c:pt>
                <c:pt idx="3">
                  <c:v>9.72381886616E-3</c:v>
                </c:pt>
                <c:pt idx="4">
                  <c:v>-2.8818394096699999E-2</c:v>
                </c:pt>
                <c:pt idx="5">
                  <c:v>-3.3085523157000002E-2</c:v>
                </c:pt>
                <c:pt idx="6">
                  <c:v>-3.9377506635699999E-2</c:v>
                </c:pt>
                <c:pt idx="7">
                  <c:v>-6.8326939001700005E-4</c:v>
                </c:pt>
                <c:pt idx="8">
                  <c:v>-7.7912232067999998E-3</c:v>
                </c:pt>
                <c:pt idx="9">
                  <c:v>-3.5229949985200001E-2</c:v>
                </c:pt>
                <c:pt idx="10">
                  <c:v>-2.1249431669999999E-2</c:v>
                </c:pt>
                <c:pt idx="11">
                  <c:v>-4.9200088365799997E-2</c:v>
                </c:pt>
                <c:pt idx="12">
                  <c:v>-4.0691823008199998E-2</c:v>
                </c:pt>
                <c:pt idx="13">
                  <c:v>-5.6481874354599997E-2</c:v>
                </c:pt>
                <c:pt idx="14">
                  <c:v>-3.4597438079200002E-2</c:v>
                </c:pt>
                <c:pt idx="15">
                  <c:v>0.131197089362</c:v>
                </c:pt>
                <c:pt idx="16">
                  <c:v>-2.4614244751800001E-2</c:v>
                </c:pt>
                <c:pt idx="17">
                  <c:v>-5.8553828364900001E-2</c:v>
                </c:pt>
                <c:pt idx="18">
                  <c:v>-1.1499033237800001E-2</c:v>
                </c:pt>
                <c:pt idx="19">
                  <c:v>-0.105225439452</c:v>
                </c:pt>
                <c:pt idx="20">
                  <c:v>-1.6551078929299998E-2</c:v>
                </c:pt>
                <c:pt idx="21">
                  <c:v>2.6857938847699998E-2</c:v>
                </c:pt>
                <c:pt idx="22">
                  <c:v>-0.10892805740100001</c:v>
                </c:pt>
                <c:pt idx="23">
                  <c:v>-2.79195599148E-2</c:v>
                </c:pt>
                <c:pt idx="24">
                  <c:v>-4.68186942614E-2</c:v>
                </c:pt>
                <c:pt idx="25">
                  <c:v>-2.28380455831E-2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4-34DD-584E-A1D9-422409FD6B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-0.4"/>
        </c:scaling>
        <c:delete val="0"/>
        <c:axPos val="b"/>
        <c:majorGridlines>
          <c:spPr>
            <a:ln w="5715">
              <a:solidFill>
                <a:srgbClr val="D7DFD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373A36"/>
                    </a:solidFill>
                    <a:latin typeface="Aptos"/>
                    <a:ea typeface="Aptos"/>
                    <a:cs typeface="Aptos"/>
                  </a:rPr>
                  <a:t>NSE difference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NSE difference</c:v>
          </c:tx>
          <c:spPr>
            <a:solidFill>
              <a:srgbClr val="007A3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1-9E98-664C-A2A0-4192A3D0BBAF}"/>
              </c:ext>
            </c:extLst>
          </c:dPt>
          <c:dPt>
            <c:idx val="1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3-9E98-664C-A2A0-4192A3D0BBAF}"/>
              </c:ext>
            </c:extLst>
          </c:dPt>
          <c:dPt>
            <c:idx val="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5-9E98-664C-A2A0-4192A3D0BBAF}"/>
              </c:ext>
            </c:extLst>
          </c:dPt>
          <c:dPt>
            <c:idx val="3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7-9E98-664C-A2A0-4192A3D0BBAF}"/>
              </c:ext>
            </c:extLst>
          </c:dPt>
          <c:dPt>
            <c:idx val="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9-9E98-664C-A2A0-4192A3D0BBAF}"/>
              </c:ext>
            </c:extLst>
          </c:dPt>
          <c:dPt>
            <c:idx val="5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B-9E98-664C-A2A0-4192A3D0BBAF}"/>
              </c:ext>
            </c:extLst>
          </c:dPt>
          <c:dPt>
            <c:idx val="6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D-9E98-664C-A2A0-4192A3D0BBAF}"/>
              </c:ext>
            </c:extLst>
          </c:dPt>
          <c:dPt>
            <c:idx val="7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0F-9E98-664C-A2A0-4192A3D0BBAF}"/>
              </c:ext>
            </c:extLst>
          </c:dPt>
          <c:dPt>
            <c:idx val="8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1-9E98-664C-A2A0-4192A3D0BBAF}"/>
              </c:ext>
            </c:extLst>
          </c:dPt>
          <c:dPt>
            <c:idx val="9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3-9E98-664C-A2A0-4192A3D0BBA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9E98-664C-A2A0-4192A3D0BBAF}"/>
              </c:ext>
            </c:extLst>
          </c:dPt>
          <c:dPt>
            <c:idx val="11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7-9E98-664C-A2A0-4192A3D0BBAF}"/>
              </c:ext>
            </c:extLst>
          </c:dPt>
          <c:dPt>
            <c:idx val="1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9-9E98-664C-A2A0-4192A3D0BBAF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9E98-664C-A2A0-4192A3D0BBAF}"/>
              </c:ext>
            </c:extLst>
          </c:dPt>
          <c:dPt>
            <c:idx val="1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D-9E98-664C-A2A0-4192A3D0BBAF}"/>
              </c:ext>
            </c:extLst>
          </c:dPt>
          <c:dPt>
            <c:idx val="15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1F-9E98-664C-A2A0-4192A3D0BBAF}"/>
              </c:ext>
            </c:extLst>
          </c:dPt>
          <c:dPt>
            <c:idx val="16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1-9E98-664C-A2A0-4192A3D0BBAF}"/>
              </c:ext>
            </c:extLst>
          </c:dPt>
          <c:dPt>
            <c:idx val="17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3-9E98-664C-A2A0-4192A3D0BBAF}"/>
              </c:ext>
            </c:extLst>
          </c:dPt>
          <c:dPt>
            <c:idx val="18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5-9E98-664C-A2A0-4192A3D0BBAF}"/>
              </c:ext>
            </c:extLst>
          </c:dPt>
          <c:dPt>
            <c:idx val="19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7-9E98-664C-A2A0-4192A3D0BBAF}"/>
              </c:ext>
            </c:extLst>
          </c:dPt>
          <c:dPt>
            <c:idx val="20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9-9E98-664C-A2A0-4192A3D0BBAF}"/>
              </c:ext>
            </c:extLst>
          </c:dPt>
          <c:dPt>
            <c:idx val="21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B-9E98-664C-A2A0-4192A3D0BBAF}"/>
              </c:ext>
            </c:extLst>
          </c:dPt>
          <c:dPt>
            <c:idx val="22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D-9E98-664C-A2A0-4192A3D0BBAF}"/>
              </c:ext>
            </c:extLst>
          </c:dPt>
          <c:dPt>
            <c:idx val="23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2F-9E98-664C-A2A0-4192A3D0BBAF}"/>
              </c:ext>
            </c:extLst>
          </c:dPt>
          <c:dPt>
            <c:idx val="24"/>
            <c:invertIfNegative val="0"/>
            <c:bubble3D val="0"/>
            <c:spPr>
              <a:solidFill>
                <a:srgbClr val="D66A28"/>
              </a:solidFill>
            </c:spPr>
            <c:extLst>
              <c:ext xmlns:c16="http://schemas.microsoft.com/office/drawing/2014/chart" uri="{C3380CC4-5D6E-409C-BE32-E72D297353CC}">
                <c16:uniqueId val="{00000031-9E98-664C-A2A0-4192A3D0BBA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>
                    <a:solidFill>
                      <a:srgbClr val="373A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Data'!$A$2:$A$26</c:f>
              <c:strCache>
                <c:ptCount val="25"/>
                <c:pt idx="0">
                  <c:v>ELF52 Savannah</c:v>
                </c:pt>
                <c:pt idx="1">
                  <c:v>ELF51 Pickwick</c:v>
                </c:pt>
                <c:pt idx="2">
                  <c:v>ELF50 Wilson</c:v>
                </c:pt>
                <c:pt idx="3">
                  <c:v>ELF49 Wheeler</c:v>
                </c:pt>
                <c:pt idx="4">
                  <c:v>ELF48 Decatur</c:v>
                </c:pt>
                <c:pt idx="5">
                  <c:v>ELF47 Guntersville</c:v>
                </c:pt>
                <c:pt idx="6">
                  <c:v>ELF45 Chickamauga</c:v>
                </c:pt>
                <c:pt idx="7">
                  <c:v>ELF44 Watts Bar</c:v>
                </c:pt>
                <c:pt idx="8">
                  <c:v>ELF43 Fort Loudoun</c:v>
                </c:pt>
                <c:pt idx="9">
                  <c:v>ELF42 Knoxville</c:v>
                </c:pt>
                <c:pt idx="10">
                  <c:v>ELF41 Hurricane Mills</c:v>
                </c:pt>
                <c:pt idx="11">
                  <c:v>ELF40 Shelbyville</c:v>
                </c:pt>
                <c:pt idx="12">
                  <c:v>ELF39 Normandy</c:v>
                </c:pt>
                <c:pt idx="13">
                  <c:v>ELF38 Lobelville</c:v>
                </c:pt>
                <c:pt idx="14">
                  <c:v>ELF37 Bishop</c:v>
                </c:pt>
                <c:pt idx="15">
                  <c:v>ELF36 Cedar Creek</c:v>
                </c:pt>
                <c:pt idx="16">
                  <c:v>ELF35 Little Bear Creek</c:v>
                </c:pt>
                <c:pt idx="17">
                  <c:v>ELF34 Bear Creek</c:v>
                </c:pt>
                <c:pt idx="18">
                  <c:v>ELF33 Upper Bear Creek</c:v>
                </c:pt>
                <c:pt idx="19">
                  <c:v>ELF32 Iron City</c:v>
                </c:pt>
                <c:pt idx="20">
                  <c:v>ELF31 Prospect</c:v>
                </c:pt>
                <c:pt idx="21">
                  <c:v>ELF30 Fayetteville</c:v>
                </c:pt>
                <c:pt idx="22">
                  <c:v>ELF29 Tims Ford</c:v>
                </c:pt>
                <c:pt idx="23">
                  <c:v>ELF28 Chase</c:v>
                </c:pt>
                <c:pt idx="24">
                  <c:v>ELF27 Woodville</c:v>
                </c:pt>
              </c:strCache>
            </c:strRef>
          </c:cat>
          <c:val>
            <c:numRef>
              <c:f>'Chart Data'!$B$2:$B$26</c:f>
              <c:numCache>
                <c:formatCode>0.0</c:formatCode>
                <c:ptCount val="25"/>
                <c:pt idx="0">
                  <c:v>-0.239664493417</c:v>
                </c:pt>
                <c:pt idx="1">
                  <c:v>-5.34894631525E-2</c:v>
                </c:pt>
                <c:pt idx="2">
                  <c:v>-0.11289881517899999</c:v>
                </c:pt>
                <c:pt idx="3">
                  <c:v>-8.1467202804399994E-2</c:v>
                </c:pt>
                <c:pt idx="4">
                  <c:v>-2.8685997406299998E-2</c:v>
                </c:pt>
                <c:pt idx="5">
                  <c:v>-4.7991120697300001E-2</c:v>
                </c:pt>
                <c:pt idx="6">
                  <c:v>-3.5374619917900002E-2</c:v>
                </c:pt>
                <c:pt idx="7">
                  <c:v>-1.3110904171699999E-2</c:v>
                </c:pt>
                <c:pt idx="8">
                  <c:v>-0.10619534034</c:v>
                </c:pt>
                <c:pt idx="9">
                  <c:v>-0.101960759277</c:v>
                </c:pt>
                <c:pt idx="10">
                  <c:v>4.21510332588E-2</c:v>
                </c:pt>
                <c:pt idx="11">
                  <c:v>-9.1025277618600006E-2</c:v>
                </c:pt>
                <c:pt idx="12">
                  <c:v>-5.99636565429E-2</c:v>
                </c:pt>
                <c:pt idx="13">
                  <c:v>3.0398465516199999E-2</c:v>
                </c:pt>
                <c:pt idx="14">
                  <c:v>-6.6238656361100004E-2</c:v>
                </c:pt>
                <c:pt idx="15">
                  <c:v>-6.5816178402499995E-2</c:v>
                </c:pt>
                <c:pt idx="16">
                  <c:v>-3.5546197014600003E-2</c:v>
                </c:pt>
                <c:pt idx="17">
                  <c:v>-0.15286955955600001</c:v>
                </c:pt>
                <c:pt idx="18">
                  <c:v>-1.11292780909E-3</c:v>
                </c:pt>
                <c:pt idx="19">
                  <c:v>-1.93528224321E-2</c:v>
                </c:pt>
                <c:pt idx="20">
                  <c:v>-5.0058521371200003E-2</c:v>
                </c:pt>
                <c:pt idx="21">
                  <c:v>-6.96482922585E-2</c:v>
                </c:pt>
                <c:pt idx="22">
                  <c:v>-2.5123587833200001E-2</c:v>
                </c:pt>
                <c:pt idx="23">
                  <c:v>-6.6226571534700004E-2</c:v>
                </c:pt>
                <c:pt idx="24">
                  <c:v>-3.4265282586999998E-2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2-9E98-664C-A2A0-4192A3D0BB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-0.4"/>
        </c:scaling>
        <c:delete val="0"/>
        <c:axPos val="b"/>
        <c:majorGridlines>
          <c:spPr>
            <a:ln w="5715">
              <a:solidFill>
                <a:srgbClr val="D7DFD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373A36"/>
                    </a:solidFill>
                    <a:latin typeface="Aptos"/>
                    <a:ea typeface="Aptos"/>
                    <a:cs typeface="Aptos"/>
                  </a:rPr>
                  <a:t>NSE difference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0" dirty="0">
              <a:latin typeface="Aptos Light"/>
              <a:ea typeface="Aptos Light"/>
              <a:cs typeface="Aptos Ligh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76D88-08A0-4509-A28C-4A1EF0E5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>
            <a:spLocks noGrp="1"/>
          </p:cNvSpPr>
          <p:nvPr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7136" cy="997196"/>
          </a:xfrm>
        </p:spPr>
        <p:txBody>
          <a:bodyPr wrap="square" anchor="t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Presentation Title (Text size no larger than 36pt)</a:t>
            </a:r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PRESENTED BY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MONTH XX, XXXX | LOCATION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>
            <a:spLocks noGrp="1"/>
          </p:cNvSpPr>
          <p:nvPr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274748"/>
              </a:solidFill>
              <a:latin typeface="Aptos Light"/>
              <a:ea typeface="Aptos Light"/>
              <a:cs typeface="Aptos Light"/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>
            <a:pPr lvl="0">
              <a:buNone/>
            </a:pPr>
            <a:r>
              <a:t>Presenter Affiliation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AD3069-0D06-43AD-B3C2-10269FD9F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D3442-F157-B130-4C8C-C1C6563CA624}"/>
              </a:ext>
            </a:extLst>
          </p:cNvPr>
          <p:cNvSpPr>
            <a:spLocks noGrp="1"/>
          </p:cNvSpPr>
          <p:nvPr/>
        </p:nvSpPr>
        <p:spPr>
          <a:xfrm>
            <a:off x="2688336" y="5344755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E3D3E-891E-4D90-8B9B-43D190B5A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351" y="5301081"/>
            <a:ext cx="1526303" cy="4384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>
            <a:spLocks noGrp="1"/>
          </p:cNvSpPr>
          <p:nvPr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/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8085" cy="997196"/>
          </a:xfrm>
        </p:spPr>
        <p:txBody>
          <a:bodyPr wrap="square" anchor="t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Presentation Title (Text size no larger than 36pt)</a:t>
            </a:r>
          </a:p>
        </p:txBody>
      </p:sp>
      <p:sp>
        <p:nvSpPr>
          <p:cNvPr id="43" name="Text Placeholder 1961">
            <a:extLst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15450" y="1934670"/>
            <a:ext cx="4518085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MONTH XX, XXXX | LOCATION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D77A3123-0409-4662-A2BE-507F59D8E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7" name="Text Placeholder 1963">
            <a:extLst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>
            <a:pPr lvl="0">
              <a:buNone/>
            </a:pPr>
            <a:r>
              <a:t>Presenter Affiliation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>
            <a:spLocks noGrp="1"/>
          </p:cNvSpPr>
          <p:nvPr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274748"/>
              </a:solidFill>
              <a:latin typeface="Aptos Light"/>
              <a:ea typeface="Aptos Light"/>
              <a:cs typeface="Aptos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153C1-920A-60DA-AB29-D732EC8AD9DD}"/>
              </a:ext>
            </a:extLst>
          </p:cNvPr>
          <p:cNvSpPr>
            <a:spLocks noGrp="1"/>
          </p:cNvSpPr>
          <p:nvPr/>
        </p:nvSpPr>
        <p:spPr>
          <a:xfrm>
            <a:off x="2688336" y="5344755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40F4C-FA7C-405F-9995-DC4A0F1F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351" y="5301081"/>
            <a:ext cx="1526303" cy="43840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461967E-4A3D-99FD-12D2-D204FBEBAF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PRESENTED BY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Portrai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85">
            <a:extLst>
              <a:ext uri="{FF2B5EF4-FFF2-40B4-BE49-F238E27FC236}">
                <a16:creationId xmlns:a16="http://schemas.microsoft.com/office/drawing/2014/main" id="{2470FD45-4056-407F-85AC-7BE8A1F3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noGrp="1"/>
          </p:cNvSpPr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>
            <a:pPr lvl="0">
              <a:buNone/>
            </a:pPr>
            <a:r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045200" y="0"/>
            <a:ext cx="6146800" cy="6858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BAB69B-7621-4D21-AC50-AAC48301E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7F60E2-2A56-9EB3-6B56-9299A963E1AB}"/>
              </a:ext>
            </a:extLst>
          </p:cNvPr>
          <p:cNvSpPr>
            <a:spLocks noGrp="1"/>
          </p:cNvSpPr>
          <p:nvPr/>
        </p:nvSpPr>
        <p:spPr>
          <a:xfrm>
            <a:off x="2368064" y="6156068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4612AA-62C7-4B5A-BE7A-2473DEC26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108192"/>
            <a:ext cx="1528065" cy="4389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Landscap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noGrp="1"/>
          </p:cNvSpPr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>
            <a:pPr lvl="0">
              <a:buNone/>
            </a:pPr>
            <a:r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5609063" y="1481958"/>
            <a:ext cx="5843239" cy="389164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BEE347-BDD9-4E5A-B9AF-0DD4A4CA13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2F9E3-A27C-53E8-B52E-49794F69B0DB}"/>
              </a:ext>
            </a:extLst>
          </p:cNvPr>
          <p:cNvSpPr>
            <a:spLocks noGrp="1"/>
          </p:cNvSpPr>
          <p:nvPr/>
        </p:nvSpPr>
        <p:spPr>
          <a:xfrm>
            <a:off x="2368064" y="6156068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40A7A-1BB8-41A1-993B-579197E25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108192"/>
            <a:ext cx="1528065" cy="4389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 Tex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285">
            <a:extLst>
              <a:ext uri="{FF2B5EF4-FFF2-40B4-BE49-F238E27FC236}">
                <a16:creationId xmlns:a16="http://schemas.microsoft.com/office/drawing/2014/main" id="{E91520F2-8968-49B8-814B-1512AC2E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6" y="2292076"/>
            <a:ext cx="10396685" cy="997196"/>
          </a:xfrm>
        </p:spPr>
        <p:txBody>
          <a:bodyPr wrap="square" anchor="t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Presentation Title: Best Title Option for Longer Presentation Titles (Text Size no larger than 36pt and no smaller than 20pt)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6" y="4019391"/>
            <a:ext cx="10396685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7656" y="1880997"/>
            <a:ext cx="10396685" cy="1938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97656" y="4371534"/>
            <a:ext cx="10396685" cy="332399"/>
          </a:xfrm>
        </p:spPr>
        <p:txBody>
          <a:bodyPr wrap="square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noGrp="1"/>
          </p:cNvSpPr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97656" y="4881013"/>
            <a:ext cx="10396685" cy="246221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>
            <a:pPr lvl="0">
              <a:buNone/>
            </a:pPr>
            <a:r>
              <a:t>Presenter Affiliation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065503-1798-4ADB-9BDE-AAD3F739C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E0B571-503C-1E4E-4585-513FD2198B27}"/>
              </a:ext>
            </a:extLst>
          </p:cNvPr>
          <p:cNvSpPr>
            <a:spLocks noGrp="1"/>
          </p:cNvSpPr>
          <p:nvPr/>
        </p:nvSpPr>
        <p:spPr>
          <a:xfrm>
            <a:off x="2368064" y="6156068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40D5E8-145A-4EB5-A866-B4DC3E650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108192"/>
            <a:ext cx="1528065" cy="4389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11492432" cy="4061829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Ke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3899310" cy="190099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2631247"/>
            <a:ext cx="3899310" cy="351113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t>Place content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678363" y="0"/>
            <a:ext cx="7513637" cy="6858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D3028C-5451-403A-A333-8AD5F5D3A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Hexagon Cut-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39371" y="-23484"/>
            <a:ext cx="6737350" cy="6865418"/>
          </a:xfrm>
          <a:custGeom>
            <a:avLst/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ahLst/>
            <a:cxnLst/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4412934" cy="1772793"/>
          </a:xfrm>
        </p:spPr>
        <p:txBody>
          <a:bodyPr anchor="t">
            <a:no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3" y="2514601"/>
            <a:ext cx="4412934" cy="3756990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tacked 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645400" y="-6350"/>
            <a:ext cx="4546600" cy="21558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645400" y="2352675"/>
            <a:ext cx="4546600" cy="214947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645400" y="4703763"/>
            <a:ext cx="4546600" cy="215423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1006475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14693" y="1817559"/>
            <a:ext cx="6763894" cy="432482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61CDF0-2964-4F86-A2FC-1BF1C83D4C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B25AB6-B61E-42D0-BDB0-40D19415A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908273-EAF5-86C7-7DA1-4B3A63FA40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8AC23A-F6F3-1406-A41C-A53D31762F5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990C39-D2EB-2C24-D563-540A447C89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1C6346-2774-4021-859D-6C8C5826E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54A7-39D8-F93F-8AB5-8AFDA80ABC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33C006-27BF-E46C-6464-DF2AED8EF3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2DE149-7914-DD03-AF2A-717A4DBC4C4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63E755-9A43-BCF9-FC26-D2B9312D44A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2151529"/>
            <a:ext cx="5528426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237905" y="2151529"/>
            <a:ext cx="5534113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E5D92591-51DF-3209-1704-154E381BA6F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4691" y="1636713"/>
            <a:ext cx="5534113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322623F-B85A-91ED-9131-7E60FBA08AA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38429" y="1636672"/>
            <a:ext cx="5534113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2191870"/>
            <a:ext cx="365069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8076" y="2191870"/>
            <a:ext cx="364642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156060" y="2191870"/>
            <a:ext cx="364739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0EDE83FF-6880-0C2B-F666-A52972148FB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4691" y="1636713"/>
            <a:ext cx="3646421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8CEEB1B0-74A1-A9A5-0E01-2E2E2380F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31283" y="1636713"/>
            <a:ext cx="3646421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B1FC136-726A-E90A-AA01-55CC4CA7F5C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59995" y="1636713"/>
            <a:ext cx="3646421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2191870"/>
            <a:ext cx="2743968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237701" y="2191870"/>
            <a:ext cx="274076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44032" y="2191870"/>
            <a:ext cx="2741489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069571" y="2191870"/>
            <a:ext cx="2737553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>
            <a:r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A8FB3702-489D-7133-5029-0EED83D742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4692" y="1636713"/>
            <a:ext cx="2740760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sp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A472ABD6-D4AF-51A3-D274-EB02E1F7D69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37701" y="1636713"/>
            <a:ext cx="2740760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9B2846D9-98D8-E207-8370-E81B28729B4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144761" y="1636713"/>
            <a:ext cx="2740760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7" name="Text Placeholder 212">
            <a:extLst>
              <a:ext uri="{FF2B5EF4-FFF2-40B4-BE49-F238E27FC236}">
                <a16:creationId xmlns:a16="http://schemas.microsoft.com/office/drawing/2014/main" id="{5A4E93FB-938D-13A6-A78B-46943641C35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069571" y="1636713"/>
            <a:ext cx="2740760" cy="433965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>
            <a:spLocks noGrp="1"/>
          </p:cNvSpPr>
          <p:nvPr/>
        </p:nvSpPr>
        <p:spPr>
          <a:xfrm>
            <a:off x="0" y="2874040"/>
            <a:ext cx="12192000" cy="3983959"/>
          </a:xfrm>
          <a:custGeom>
            <a:avLst/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ahLst/>
            <a:cxnLst/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361" name="Picture Placeholder 360">
            <a:extLst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069848" y="1645920"/>
            <a:ext cx="2923908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62" name="Picture Placeholder 360">
            <a:extLst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3600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63" name="Picture Placeholder 360">
            <a:extLst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0216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FB33DC-CBA9-4E52-B919-2A5FA4E5AB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285">
            <a:extLst>
              <a:ext uri="{FF2B5EF4-FFF2-40B4-BE49-F238E27FC236}">
                <a16:creationId xmlns:a16="http://schemas.microsoft.com/office/drawing/2014/main" id="{E09E4079-6561-41B0-823F-050B87AD7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886397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CCFAFF-B630-42EE-A938-299A3944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B6C3CAB0-9F19-5F7D-262F-075849CDF9D2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069848" y="1645920"/>
            <a:ext cx="2923908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F6D66F89-B82D-509A-9415-1271514F009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3600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5B2950D5-5445-9250-7264-D5F1C7CFF62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0216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00EE450A-4A48-CD8F-195B-EFA7253FE33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6D24BE53-367A-F7EE-4A10-86C720DD949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C5AB6D40-14EE-39E1-1C1E-DD4771CAD98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917575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C4D1496-479F-4C53-A2D8-03B7E0026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62FE7C8B-D853-CA32-F02A-E0E431FE24C2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069848" y="1645920"/>
            <a:ext cx="2923908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25985483-66E5-0277-9E8E-8234D001A48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3600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E1C6DB72-7F04-7416-51DB-F05F0035A59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02168" y="1645920"/>
            <a:ext cx="2926080" cy="292608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D0DEB0A1-96DC-E93B-DFED-C24D86572D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1A9B287A-BCA2-477B-B96F-5895AA3949F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058C8352-E125-59CC-3CDA-4422103AE83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AADB8D-BDAA-4B3D-9579-C0A234259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17" name="Picture Placeholder 122">
            <a:extLst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707498" y="1371574"/>
            <a:ext cx="3075236" cy="149047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2" name="Picture Placeholder 122">
            <a:extLst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451474" y="3039052"/>
            <a:ext cx="3075236" cy="149047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3" name="Picture Placeholder 122">
            <a:extLst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196136" y="4707798"/>
            <a:ext cx="3075236" cy="149047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46ACBB2B-C7F0-E810-9B2C-BD70D1820D4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962830" y="1376146"/>
            <a:ext cx="1744662" cy="1485900"/>
          </a:xfrm>
          <a:prstGeom prst="rect">
            <a:avLst/>
          </a:prstGeom>
          <a:solidFill>
            <a:schemeClr val="accent5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5AB8117-0D0B-F4A2-5D9D-8D07A6153612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707492" y="3043624"/>
            <a:ext cx="1744662" cy="1485900"/>
          </a:xfrm>
          <a:prstGeom prst="rect">
            <a:avLst/>
          </a:prstGeom>
          <a:solidFill>
            <a:schemeClr val="accent4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69DCCB0-CA4C-C341-313C-4C6AB851C3F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451474" y="4712370"/>
            <a:ext cx="1744662" cy="1485900"/>
          </a:xfrm>
          <a:prstGeom prst="rect">
            <a:avLst/>
          </a:prstGeom>
          <a:solidFill>
            <a:schemeClr val="accent3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Image Series Colo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580965" y="1758896"/>
            <a:ext cx="2194560" cy="18745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580965" y="3911299"/>
            <a:ext cx="2194560" cy="18745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521865" y="1758896"/>
            <a:ext cx="2194560" cy="18745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5" name="Picture Placeholder 360">
            <a:extLst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521865" y="3911299"/>
            <a:ext cx="2194560" cy="18745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384410" y="3911299"/>
            <a:ext cx="2192338" cy="1873250"/>
          </a:xfrm>
          <a:prstGeom prst="rect">
            <a:avLst/>
          </a:prstGeom>
          <a:solidFill>
            <a:schemeClr val="accent6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329527" y="1758896"/>
            <a:ext cx="2192338" cy="1873250"/>
          </a:xfrm>
          <a:prstGeom prst="rect">
            <a:avLst/>
          </a:prstGeom>
          <a:solidFill>
            <a:schemeClr val="accent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29527" y="3911299"/>
            <a:ext cx="2192338" cy="1873250"/>
          </a:xfrm>
          <a:prstGeom prst="rect">
            <a:avLst/>
          </a:prstGeom>
          <a:solidFill>
            <a:schemeClr val="accent4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FD3A4D06-1EC0-67D1-BF1F-4A91D1E3414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384410" y="1758896"/>
            <a:ext cx="2192338" cy="1873250"/>
          </a:xfrm>
          <a:prstGeom prst="rect">
            <a:avLst/>
          </a:prstGeom>
          <a:solidFill>
            <a:schemeClr val="tx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Image Series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468099" y="1465385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26F353B8-FF4B-42ED-1CE7-EDC4F7EF61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468099" y="3012831"/>
            <a:ext cx="2658427" cy="656942"/>
          </a:xfrm>
          <a:prstGeom prst="rect">
            <a:avLst/>
          </a:prstGeom>
          <a:solidFill>
            <a:schemeClr val="tx2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6E81FCDA-4DA3-AB4A-5D95-88A3FEFC3A25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1468099" y="3960136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F669257-B949-89C3-AFAB-C056282DB49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468099" y="5507582"/>
            <a:ext cx="2658427" cy="656942"/>
          </a:xfrm>
          <a:prstGeom prst="rect">
            <a:avLst/>
          </a:prstGeom>
          <a:solidFill>
            <a:schemeClr val="accent5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13D2DA25-934B-21FF-2966-29EF546C487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766787" y="1465385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17D533C8-B6CD-B35B-9678-CFA2D4FF71A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66787" y="3012831"/>
            <a:ext cx="2658427" cy="656942"/>
          </a:xfrm>
          <a:prstGeom prst="rect">
            <a:avLst/>
          </a:prstGeom>
          <a:solidFill>
            <a:schemeClr val="accent3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FFFA52E8-8238-7D32-74C3-C442340BACDD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766787" y="3960136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EAA931B9-F65E-5FA9-1A52-F298BEA03A3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66787" y="5507582"/>
            <a:ext cx="2658427" cy="656942"/>
          </a:xfrm>
          <a:prstGeom prst="rect">
            <a:avLst/>
          </a:prstGeom>
          <a:solidFill>
            <a:schemeClr val="accent4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21" name="Picture Placeholder 360">
            <a:extLst>
              <a:ext uri="{FF2B5EF4-FFF2-40B4-BE49-F238E27FC236}">
                <a16:creationId xmlns:a16="http://schemas.microsoft.com/office/drawing/2014/main" id="{E2163388-A63C-577D-E1F5-098DA5ECC07B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065474" y="1465385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6A354D75-2850-EFEF-9B6E-16282EFCDE4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65474" y="3012831"/>
            <a:ext cx="2658427" cy="656942"/>
          </a:xfrm>
          <a:prstGeom prst="rect">
            <a:avLst/>
          </a:prstGeom>
          <a:solidFill>
            <a:schemeClr val="accent6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23" name="Picture Placeholder 360">
            <a:extLst>
              <a:ext uri="{FF2B5EF4-FFF2-40B4-BE49-F238E27FC236}">
                <a16:creationId xmlns:a16="http://schemas.microsoft.com/office/drawing/2014/main" id="{FBABECBC-CDDA-6887-FB75-25BC231CEC93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8065474" y="3960136"/>
            <a:ext cx="2658427" cy="15474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AA63FF33-3432-1D2E-53DE-B6F0895069F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065474" y="5507582"/>
            <a:ext cx="2658427" cy="656942"/>
          </a:xfrm>
          <a:prstGeom prst="rect">
            <a:avLst/>
          </a:prstGeom>
          <a:solidFill>
            <a:schemeClr val="tx1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510445" y="1682263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 b="1"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510079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409584" y="1682263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409218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5308182" y="1682263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307640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7206077" y="1682263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05711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103782" y="1682263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9103416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" name="Picture Placeholder 360">
            <a:extLst>
              <a:ext uri="{FF2B5EF4-FFF2-40B4-BE49-F238E27FC236}">
                <a16:creationId xmlns:a16="http://schemas.microsoft.com/office/drawing/2014/main" id="{50C0265D-4C37-A6EB-018A-088C3665D77B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1510079" y="3970677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171DB7C-B77B-BA2F-D42D-E70799E1CF4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09713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54228786-C065-7CF8-8C9C-C9622BDB5F7E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3409218" y="3970677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3BA11-280F-ED2F-8FE5-AD08B0D4481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408852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D0FFE670-33BD-AB72-DB9E-26A7E5785E56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5307816" y="3970677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6FD3033-3412-943B-9B60-3555F20EAC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307274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D90F4C59-A65F-7802-34A6-70D69C5041A5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>
            <a:off x="7205711" y="3970677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34846F9-F8EB-3656-08DF-03E1A00CD63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7205345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9694CBBD-6AE6-ADDC-80FB-FDFA2458BCB3}"/>
              </a:ext>
            </a:extLst>
          </p:cNvPr>
          <p:cNvSpPr>
            <a:spLocks noGrp="1"/>
          </p:cNvSpPr>
          <p:nvPr>
            <p:ph type="pic" idx="31"/>
          </p:nvPr>
        </p:nvSpPr>
        <p:spPr>
          <a:xfrm>
            <a:off x="9103416" y="3970677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DB0CCF3-7E0B-FACF-F244-CCF6EC2D930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103050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14691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143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991091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907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667491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671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3891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3435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7020291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70199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27" name="Picture Placeholder 360">
            <a:extLst>
              <a:ext uri="{FF2B5EF4-FFF2-40B4-BE49-F238E27FC236}">
                <a16:creationId xmlns:a16="http://schemas.microsoft.com/office/drawing/2014/main" id="{7EDA5855-F73F-935A-1566-720D38EC07DF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696325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A7A6897-50BB-69EA-CE0D-8428224909F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95959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29" name="Picture Placeholder 360">
            <a:extLst>
              <a:ext uri="{FF2B5EF4-FFF2-40B4-BE49-F238E27FC236}">
                <a16:creationId xmlns:a16="http://schemas.microsoft.com/office/drawing/2014/main" id="{D09EF4CE-B526-1CEA-9EDD-34A61A70EE7C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10371993" y="1676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93FC27B-1624-B783-DF96-5521C31FB6A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371627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1" name="Picture Placeholder 360">
            <a:extLst>
              <a:ext uri="{FF2B5EF4-FFF2-40B4-BE49-F238E27FC236}">
                <a16:creationId xmlns:a16="http://schemas.microsoft.com/office/drawing/2014/main" id="{5A8BA158-C0D0-7A81-D0D2-8428A63A3D75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317151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9D4BA50-34B9-66B8-EAF5-82AF534969D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3167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3" name="Picture Placeholder 360">
            <a:extLst>
              <a:ext uri="{FF2B5EF4-FFF2-40B4-BE49-F238E27FC236}">
                <a16:creationId xmlns:a16="http://schemas.microsoft.com/office/drawing/2014/main" id="{9764F327-567A-B4BD-324B-5E6E4A38AE8A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>
            <a:off x="1993551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81407771-83D8-01C3-0563-CE45ADD67E2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9931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5" name="Picture Placeholder 360">
            <a:extLst>
              <a:ext uri="{FF2B5EF4-FFF2-40B4-BE49-F238E27FC236}">
                <a16:creationId xmlns:a16="http://schemas.microsoft.com/office/drawing/2014/main" id="{053F6908-A1A4-51D5-C068-74AE8BBE8575}"/>
              </a:ext>
            </a:extLst>
          </p:cNvPr>
          <p:cNvSpPr>
            <a:spLocks noGrp="1"/>
          </p:cNvSpPr>
          <p:nvPr>
            <p:ph type="pic" idx="31"/>
          </p:nvPr>
        </p:nvSpPr>
        <p:spPr>
          <a:xfrm>
            <a:off x="3669951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59B219-D993-9F5C-A25E-27170413130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6695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7" name="Picture Placeholder 360">
            <a:extLst>
              <a:ext uri="{FF2B5EF4-FFF2-40B4-BE49-F238E27FC236}">
                <a16:creationId xmlns:a16="http://schemas.microsoft.com/office/drawing/2014/main" id="{3B1CFCF1-1BBA-A77B-07C5-CE89C6D37D8E}"/>
              </a:ext>
            </a:extLst>
          </p:cNvPr>
          <p:cNvSpPr>
            <a:spLocks noGrp="1"/>
          </p:cNvSpPr>
          <p:nvPr>
            <p:ph type="pic" idx="33"/>
          </p:nvPr>
        </p:nvSpPr>
        <p:spPr>
          <a:xfrm>
            <a:off x="5346351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24D5DB3-FDA3-34E1-683B-AF880C6B564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3459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39" name="Picture Placeholder 360">
            <a:extLst>
              <a:ext uri="{FF2B5EF4-FFF2-40B4-BE49-F238E27FC236}">
                <a16:creationId xmlns:a16="http://schemas.microsoft.com/office/drawing/2014/main" id="{CD18FDA3-0BAD-70CF-4A1C-E0AC365F43EC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7022751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C7D472D-B446-D4C9-7FEA-8337576DA47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70223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41" name="Picture Placeholder 360">
            <a:extLst>
              <a:ext uri="{FF2B5EF4-FFF2-40B4-BE49-F238E27FC236}">
                <a16:creationId xmlns:a16="http://schemas.microsoft.com/office/drawing/2014/main" id="{00CD14FC-B345-724A-1702-9ECB7309E7BA}"/>
              </a:ext>
            </a:extLst>
          </p:cNvPr>
          <p:cNvSpPr>
            <a:spLocks noGrp="1"/>
          </p:cNvSpPr>
          <p:nvPr>
            <p:ph type="pic" idx="37"/>
          </p:nvPr>
        </p:nvSpPr>
        <p:spPr>
          <a:xfrm>
            <a:off x="8698785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A39A6918-941C-CFDA-46B7-7B3F5821B26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698419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  <p:sp>
        <p:nvSpPr>
          <p:cNvPr id="43" name="Picture Placeholder 360">
            <a:extLst>
              <a:ext uri="{FF2B5EF4-FFF2-40B4-BE49-F238E27FC236}">
                <a16:creationId xmlns:a16="http://schemas.microsoft.com/office/drawing/2014/main" id="{13F06704-FC82-77D6-CD12-259FDE55A8D4}"/>
              </a:ext>
            </a:extLst>
          </p:cNvPr>
          <p:cNvSpPr>
            <a:spLocks noGrp="1"/>
          </p:cNvSpPr>
          <p:nvPr>
            <p:ph type="pic" idx="39"/>
          </p:nvPr>
        </p:nvSpPr>
        <p:spPr>
          <a:xfrm>
            <a:off x="10374453" y="3962401"/>
            <a:ext cx="1411061" cy="140817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DAE33098-4EF0-1E1A-7F23-76F0D50AACB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0374087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>
              <a:buNone/>
            </a:pPr>
            <a:r>
              <a:t>First Name, Last Name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0DFAB7-21C9-46C7-BB9B-44CF9846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89" b="20607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88" y="2258209"/>
            <a:ext cx="12081224" cy="664797"/>
          </a:xfrm>
        </p:spPr>
        <p:txBody>
          <a:bodyPr anchor="t">
            <a:noAutofit/>
          </a:bodyPr>
          <a:lstStyle>
            <a:lvl1pPr algn="ctr">
              <a:spcBef>
                <a:spcPts val="1200"/>
              </a:spcBef>
              <a:spcAft>
                <a:spcPts val="6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437" y="2922742"/>
            <a:ext cx="12063127" cy="397032"/>
          </a:xfrm>
        </p:spPr>
        <p:txBody>
          <a:bodyPr tIns="91440" anchor="t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PLACE CONTENT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noGrp="1"/>
          </p:cNvSpPr>
          <p:nvPr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84FECC78-EAF1-4A29-97DD-C37AB6D61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157" y="2624569"/>
            <a:ext cx="11045686" cy="498598"/>
          </a:xfrm>
        </p:spPr>
        <p:txBody>
          <a:bodyPr anchor="t">
            <a:noAutofit/>
          </a:bodyPr>
          <a:lstStyle>
            <a:lvl1pPr algn="ctr"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One-sentence headline stating the main takeaway</a:t>
            </a:r>
          </a:p>
        </p:txBody>
      </p:sp>
      <p:sp>
        <p:nvSpPr>
          <p:cNvPr id="320" name="Text Placeholder 368">
            <a:extLst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56069" y="3774422"/>
            <a:ext cx="11062774" cy="249299"/>
          </a:xfrm>
        </p:spPr>
        <p:txBody>
          <a:bodyPr anchor="t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t>Place content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>
            <a:spLocks noGrp="1"/>
          </p:cNvSpPr>
          <p:nvPr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9F48653-0E1B-4879-87E6-5DEA6532A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 + 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E39097-51F5-4B0C-865D-DFCCAF41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4" t="5003" r="5511" b="5003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sp>
        <p:nvSpPr>
          <p:cNvPr id="120" name="Freeform 119">
            <a:extLst>
              <a:ext uri="{FF2B5EF4-FFF2-40B4-BE49-F238E27FC236}">
                <a16:creationId xmlns:a16="http://schemas.microsoft.com/office/drawing/2014/main" id="{B35B19EB-28CC-5046-67D8-0AC0F092D8F9}"/>
              </a:ext>
            </a:extLst>
          </p:cNvPr>
          <p:cNvSpPr>
            <a:spLocks noGrp="1"/>
          </p:cNvSpPr>
          <p:nvPr/>
        </p:nvSpPr>
        <p:spPr>
          <a:xfrm>
            <a:off x="6164832" y="2157404"/>
            <a:ext cx="1173737" cy="1173735"/>
          </a:xfrm>
          <a:custGeom>
            <a:avLst/>
            <a:gdLst>
              <a:gd name="connsiteX0" fmla="*/ 0 w 543306"/>
              <a:gd name="connsiteY0" fmla="*/ 0 h 543305"/>
              <a:gd name="connsiteX1" fmla="*/ 543306 w 543306"/>
              <a:gd name="connsiteY1" fmla="*/ 0 h 543305"/>
              <a:gd name="connsiteX2" fmla="*/ 543306 w 543306"/>
              <a:gd name="connsiteY2" fmla="*/ 543306 h 543305"/>
              <a:gd name="connsiteX3" fmla="*/ 0 w 543306"/>
              <a:gd name="connsiteY3" fmla="*/ 543306 h 543305"/>
            </a:gdLst>
            <a:ahLst/>
            <a:cxnLst/>
            <a:rect l="l" t="t" r="r" b="b"/>
            <a:pathLst>
              <a:path w="543306" h="543305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1" name="Freeform 120">
            <a:extLst>
              <a:ext uri="{FF2B5EF4-FFF2-40B4-BE49-F238E27FC236}">
                <a16:creationId xmlns:a16="http://schemas.microsoft.com/office/drawing/2014/main" id="{9F8B7F74-14E3-0359-48F7-8887F481B3F3}"/>
              </a:ext>
            </a:extLst>
          </p:cNvPr>
          <p:cNvSpPr>
            <a:spLocks noGrp="1"/>
          </p:cNvSpPr>
          <p:nvPr/>
        </p:nvSpPr>
        <p:spPr>
          <a:xfrm>
            <a:off x="6566286" y="2346511"/>
            <a:ext cx="371228" cy="794933"/>
          </a:xfrm>
          <a:custGeom>
            <a:avLst/>
            <a:gdLst>
              <a:gd name="connsiteX0" fmla="*/ 136975 w 171836"/>
              <a:gd name="connsiteY0" fmla="*/ 62674 h 367963"/>
              <a:gd name="connsiteX1" fmla="*/ 167646 w 171836"/>
              <a:gd name="connsiteY1" fmla="*/ 62674 h 367963"/>
              <a:gd name="connsiteX2" fmla="*/ 171837 w 171836"/>
              <a:gd name="connsiteY2" fmla="*/ 58483 h 367963"/>
              <a:gd name="connsiteX3" fmla="*/ 171837 w 171836"/>
              <a:gd name="connsiteY3" fmla="*/ 3905 h 367963"/>
              <a:gd name="connsiteX4" fmla="*/ 168027 w 171836"/>
              <a:gd name="connsiteY4" fmla="*/ 0 h 367963"/>
              <a:gd name="connsiteX5" fmla="*/ 104305 w 171836"/>
              <a:gd name="connsiteY5" fmla="*/ 667 h 367963"/>
              <a:gd name="connsiteX6" fmla="*/ 53156 w 171836"/>
              <a:gd name="connsiteY6" fmla="*/ 26670 h 367963"/>
              <a:gd name="connsiteX7" fmla="*/ 38392 w 171836"/>
              <a:gd name="connsiteY7" fmla="*/ 72580 h 367963"/>
              <a:gd name="connsiteX8" fmla="*/ 38392 w 171836"/>
              <a:gd name="connsiteY8" fmla="*/ 113633 h 367963"/>
              <a:gd name="connsiteX9" fmla="*/ 32105 w 171836"/>
              <a:gd name="connsiteY9" fmla="*/ 120205 h 367963"/>
              <a:gd name="connsiteX10" fmla="*/ 4483 w 171836"/>
              <a:gd name="connsiteY10" fmla="*/ 120015 h 367963"/>
              <a:gd name="connsiteX11" fmla="*/ 6 w 171836"/>
              <a:gd name="connsiteY11" fmla="*/ 124492 h 367963"/>
              <a:gd name="connsiteX12" fmla="*/ 6 w 171836"/>
              <a:gd name="connsiteY12" fmla="*/ 178403 h 367963"/>
              <a:gd name="connsiteX13" fmla="*/ 4959 w 171836"/>
              <a:gd name="connsiteY13" fmla="*/ 183166 h 367963"/>
              <a:gd name="connsiteX14" fmla="*/ 31915 w 171836"/>
              <a:gd name="connsiteY14" fmla="*/ 182975 h 367963"/>
              <a:gd name="connsiteX15" fmla="*/ 38106 w 171836"/>
              <a:gd name="connsiteY15" fmla="*/ 189167 h 367963"/>
              <a:gd name="connsiteX16" fmla="*/ 38011 w 171836"/>
              <a:gd name="connsiteY16" fmla="*/ 275558 h 367963"/>
              <a:gd name="connsiteX17" fmla="*/ 37915 w 171836"/>
              <a:gd name="connsiteY17" fmla="*/ 360807 h 367963"/>
              <a:gd name="connsiteX18" fmla="*/ 44773 w 171836"/>
              <a:gd name="connsiteY18" fmla="*/ 367951 h 367963"/>
              <a:gd name="connsiteX19" fmla="*/ 107924 w 171836"/>
              <a:gd name="connsiteY19" fmla="*/ 367951 h 367963"/>
              <a:gd name="connsiteX20" fmla="*/ 115354 w 171836"/>
              <a:gd name="connsiteY20" fmla="*/ 360617 h 367963"/>
              <a:gd name="connsiteX21" fmla="*/ 115258 w 171836"/>
              <a:gd name="connsiteY21" fmla="*/ 191452 h 367963"/>
              <a:gd name="connsiteX22" fmla="*/ 123164 w 171836"/>
              <a:gd name="connsiteY22" fmla="*/ 183737 h 367963"/>
              <a:gd name="connsiteX23" fmla="*/ 159931 w 171836"/>
              <a:gd name="connsiteY23" fmla="*/ 183737 h 367963"/>
              <a:gd name="connsiteX24" fmla="*/ 165836 w 171836"/>
              <a:gd name="connsiteY24" fmla="*/ 178975 h 367963"/>
              <a:gd name="connsiteX25" fmla="*/ 170980 w 171836"/>
              <a:gd name="connsiteY25" fmla="*/ 124682 h 367963"/>
              <a:gd name="connsiteX26" fmla="*/ 165455 w 171836"/>
              <a:gd name="connsiteY26" fmla="*/ 118872 h 367963"/>
              <a:gd name="connsiteX27" fmla="*/ 118878 w 171836"/>
              <a:gd name="connsiteY27" fmla="*/ 118967 h 367963"/>
              <a:gd name="connsiteX28" fmla="*/ 114115 w 171836"/>
              <a:gd name="connsiteY28" fmla="*/ 115348 h 367963"/>
              <a:gd name="connsiteX29" fmla="*/ 114592 w 171836"/>
              <a:gd name="connsiteY29" fmla="*/ 82867 h 367963"/>
              <a:gd name="connsiteX30" fmla="*/ 137166 w 171836"/>
              <a:gd name="connsiteY30" fmla="*/ 62389 h 367963"/>
            </a:gdLst>
            <a:ahLst/>
            <a:cxnLst/>
            <a:rect l="l" t="t" r="r" b="b"/>
            <a:pathLst>
              <a:path w="171836" h="367963">
                <a:moveTo>
                  <a:pt x="136975" y="62674"/>
                </a:moveTo>
                <a:cubicBezTo>
                  <a:pt x="147167" y="62674"/>
                  <a:pt x="157454" y="62579"/>
                  <a:pt x="167646" y="62674"/>
                </a:cubicBezTo>
                <a:cubicBezTo>
                  <a:pt x="170789" y="62674"/>
                  <a:pt x="171837" y="61722"/>
                  <a:pt x="171837" y="58483"/>
                </a:cubicBezTo>
                <a:cubicBezTo>
                  <a:pt x="171742" y="40291"/>
                  <a:pt x="171742" y="22098"/>
                  <a:pt x="171837" y="3905"/>
                </a:cubicBezTo>
                <a:cubicBezTo>
                  <a:pt x="171837" y="1048"/>
                  <a:pt x="170980" y="0"/>
                  <a:pt x="168027" y="0"/>
                </a:cubicBezTo>
                <a:cubicBezTo>
                  <a:pt x="146786" y="190"/>
                  <a:pt x="125546" y="-286"/>
                  <a:pt x="104305" y="667"/>
                </a:cubicBezTo>
                <a:cubicBezTo>
                  <a:pt x="83635" y="1619"/>
                  <a:pt x="65729" y="9430"/>
                  <a:pt x="53156" y="26670"/>
                </a:cubicBezTo>
                <a:cubicBezTo>
                  <a:pt x="43154" y="40291"/>
                  <a:pt x="38677" y="55817"/>
                  <a:pt x="38392" y="72580"/>
                </a:cubicBezTo>
                <a:cubicBezTo>
                  <a:pt x="38106" y="86296"/>
                  <a:pt x="38106" y="100013"/>
                  <a:pt x="38392" y="113633"/>
                </a:cubicBezTo>
                <a:cubicBezTo>
                  <a:pt x="38487" y="118586"/>
                  <a:pt x="37439" y="120491"/>
                  <a:pt x="32105" y="120205"/>
                </a:cubicBezTo>
                <a:cubicBezTo>
                  <a:pt x="22961" y="119729"/>
                  <a:pt x="13722" y="120205"/>
                  <a:pt x="4483" y="120015"/>
                </a:cubicBezTo>
                <a:cubicBezTo>
                  <a:pt x="958" y="120015"/>
                  <a:pt x="-89" y="121063"/>
                  <a:pt x="6" y="124492"/>
                </a:cubicBezTo>
                <a:cubicBezTo>
                  <a:pt x="197" y="142494"/>
                  <a:pt x="197" y="160496"/>
                  <a:pt x="6" y="178403"/>
                </a:cubicBezTo>
                <a:cubicBezTo>
                  <a:pt x="6" y="182213"/>
                  <a:pt x="1339" y="183261"/>
                  <a:pt x="4959" y="183166"/>
                </a:cubicBezTo>
                <a:cubicBezTo>
                  <a:pt x="13913" y="182975"/>
                  <a:pt x="22961" y="183356"/>
                  <a:pt x="31915" y="182975"/>
                </a:cubicBezTo>
                <a:cubicBezTo>
                  <a:pt x="36772" y="182785"/>
                  <a:pt x="38106" y="184309"/>
                  <a:pt x="38106" y="189167"/>
                </a:cubicBezTo>
                <a:cubicBezTo>
                  <a:pt x="37915" y="217932"/>
                  <a:pt x="38011" y="246793"/>
                  <a:pt x="38011" y="275558"/>
                </a:cubicBezTo>
                <a:cubicBezTo>
                  <a:pt x="38011" y="304324"/>
                  <a:pt x="38106" y="332327"/>
                  <a:pt x="37915" y="360807"/>
                </a:cubicBezTo>
                <a:cubicBezTo>
                  <a:pt x="37915" y="366141"/>
                  <a:pt x="38868" y="368141"/>
                  <a:pt x="44773" y="367951"/>
                </a:cubicBezTo>
                <a:cubicBezTo>
                  <a:pt x="65824" y="367570"/>
                  <a:pt x="86874" y="367570"/>
                  <a:pt x="107924" y="367951"/>
                </a:cubicBezTo>
                <a:cubicBezTo>
                  <a:pt x="113830" y="368046"/>
                  <a:pt x="115354" y="366617"/>
                  <a:pt x="115354" y="360617"/>
                </a:cubicBezTo>
                <a:cubicBezTo>
                  <a:pt x="115068" y="304229"/>
                  <a:pt x="115163" y="247841"/>
                  <a:pt x="115258" y="191452"/>
                </a:cubicBezTo>
                <a:cubicBezTo>
                  <a:pt x="115258" y="182499"/>
                  <a:pt x="114401" y="183833"/>
                  <a:pt x="123164" y="183737"/>
                </a:cubicBezTo>
                <a:cubicBezTo>
                  <a:pt x="135451" y="183737"/>
                  <a:pt x="147643" y="183642"/>
                  <a:pt x="159931" y="183737"/>
                </a:cubicBezTo>
                <a:cubicBezTo>
                  <a:pt x="163646" y="183737"/>
                  <a:pt x="165455" y="182975"/>
                  <a:pt x="165836" y="178975"/>
                </a:cubicBezTo>
                <a:cubicBezTo>
                  <a:pt x="167360" y="160877"/>
                  <a:pt x="169075" y="142780"/>
                  <a:pt x="170980" y="124682"/>
                </a:cubicBezTo>
                <a:cubicBezTo>
                  <a:pt x="171456" y="119920"/>
                  <a:pt x="170027" y="118872"/>
                  <a:pt x="165455" y="118872"/>
                </a:cubicBezTo>
                <a:cubicBezTo>
                  <a:pt x="149930" y="119158"/>
                  <a:pt x="134404" y="118872"/>
                  <a:pt x="118878" y="118967"/>
                </a:cubicBezTo>
                <a:cubicBezTo>
                  <a:pt x="116306" y="118967"/>
                  <a:pt x="114020" y="119253"/>
                  <a:pt x="114115" y="115348"/>
                </a:cubicBezTo>
                <a:cubicBezTo>
                  <a:pt x="114401" y="104489"/>
                  <a:pt x="113830" y="93631"/>
                  <a:pt x="114592" y="82867"/>
                </a:cubicBezTo>
                <a:cubicBezTo>
                  <a:pt x="115449" y="69437"/>
                  <a:pt x="123545" y="62389"/>
                  <a:pt x="137166" y="62389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2" name="Freeform 121">
            <a:extLst>
              <a:ext uri="{FF2B5EF4-FFF2-40B4-BE49-F238E27FC236}">
                <a16:creationId xmlns:a16="http://schemas.microsoft.com/office/drawing/2014/main" id="{C1A6707B-2CA3-3F65-45C2-727FD45B5C49}"/>
              </a:ext>
            </a:extLst>
          </p:cNvPr>
          <p:cNvSpPr>
            <a:spLocks noGrp="1"/>
          </p:cNvSpPr>
          <p:nvPr/>
        </p:nvSpPr>
        <p:spPr>
          <a:xfrm>
            <a:off x="4853432" y="2156993"/>
            <a:ext cx="1173737" cy="1173736"/>
          </a:xfrm>
          <a:custGeom>
            <a:avLst/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ahLst/>
            <a:cxnLst/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D4C61578-C993-8405-291A-DEF5EE57846B}"/>
              </a:ext>
            </a:extLst>
          </p:cNvPr>
          <p:cNvSpPr>
            <a:spLocks noGrp="1"/>
          </p:cNvSpPr>
          <p:nvPr/>
        </p:nvSpPr>
        <p:spPr>
          <a:xfrm>
            <a:off x="5597512" y="2493640"/>
            <a:ext cx="93419" cy="93419"/>
          </a:xfrm>
          <a:custGeom>
            <a:avLst/>
            <a:gdLst>
              <a:gd name="connsiteX0" fmla="*/ 21622 w 43243"/>
              <a:gd name="connsiteY0" fmla="*/ 0 h 43243"/>
              <a:gd name="connsiteX1" fmla="*/ 0 w 43243"/>
              <a:gd name="connsiteY1" fmla="*/ 21622 h 43243"/>
              <a:gd name="connsiteX2" fmla="*/ 21622 w 43243"/>
              <a:gd name="connsiteY2" fmla="*/ 43244 h 43243"/>
              <a:gd name="connsiteX3" fmla="*/ 43244 w 43243"/>
              <a:gd name="connsiteY3" fmla="*/ 21622 h 43243"/>
              <a:gd name="connsiteX4" fmla="*/ 21622 w 43243"/>
              <a:gd name="connsiteY4" fmla="*/ 0 h 43243"/>
            </a:gdLst>
            <a:ahLst/>
            <a:cxnLst/>
            <a:rect l="l" t="t" r="r" b="b"/>
            <a:pathLst>
              <a:path w="43243" h="43243">
                <a:moveTo>
                  <a:pt x="21622" y="0"/>
                </a:moveTo>
                <a:cubicBezTo>
                  <a:pt x="9715" y="0"/>
                  <a:pt x="0" y="9716"/>
                  <a:pt x="0" y="21622"/>
                </a:cubicBezTo>
                <a:cubicBezTo>
                  <a:pt x="0" y="33528"/>
                  <a:pt x="9715" y="43244"/>
                  <a:pt x="21622" y="43244"/>
                </a:cubicBezTo>
                <a:cubicBezTo>
                  <a:pt x="33528" y="43244"/>
                  <a:pt x="43244" y="33528"/>
                  <a:pt x="43244" y="21622"/>
                </a:cubicBezTo>
                <a:cubicBezTo>
                  <a:pt x="43244" y="9716"/>
                  <a:pt x="33528" y="0"/>
                  <a:pt x="21622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74412687-F6B8-FF14-A681-2E7D9389F291}"/>
              </a:ext>
            </a:extLst>
          </p:cNvPr>
          <p:cNvSpPr>
            <a:spLocks noGrp="1"/>
          </p:cNvSpPr>
          <p:nvPr/>
        </p:nvSpPr>
        <p:spPr>
          <a:xfrm>
            <a:off x="5056738" y="2360298"/>
            <a:ext cx="766919" cy="766919"/>
          </a:xfrm>
          <a:custGeom>
            <a:avLst/>
            <a:gdLst>
              <a:gd name="connsiteX0" fmla="*/ 265462 w 354996"/>
              <a:gd name="connsiteY0" fmla="*/ 0 h 354996"/>
              <a:gd name="connsiteX1" fmla="*/ 89535 w 354996"/>
              <a:gd name="connsiteY1" fmla="*/ 0 h 354996"/>
              <a:gd name="connsiteX2" fmla="*/ 0 w 354996"/>
              <a:gd name="connsiteY2" fmla="*/ 89535 h 354996"/>
              <a:gd name="connsiteX3" fmla="*/ 0 w 354996"/>
              <a:gd name="connsiteY3" fmla="*/ 265462 h 354996"/>
              <a:gd name="connsiteX4" fmla="*/ 89535 w 354996"/>
              <a:gd name="connsiteY4" fmla="*/ 354997 h 354996"/>
              <a:gd name="connsiteX5" fmla="*/ 265462 w 354996"/>
              <a:gd name="connsiteY5" fmla="*/ 354997 h 354996"/>
              <a:gd name="connsiteX6" fmla="*/ 354997 w 354996"/>
              <a:gd name="connsiteY6" fmla="*/ 265462 h 354996"/>
              <a:gd name="connsiteX7" fmla="*/ 354997 w 354996"/>
              <a:gd name="connsiteY7" fmla="*/ 89535 h 354996"/>
              <a:gd name="connsiteX8" fmla="*/ 265462 w 354996"/>
              <a:gd name="connsiteY8" fmla="*/ 0 h 354996"/>
              <a:gd name="connsiteX9" fmla="*/ 316421 w 354996"/>
              <a:gd name="connsiteY9" fmla="*/ 265462 h 354996"/>
              <a:gd name="connsiteX10" fmla="*/ 265462 w 354996"/>
              <a:gd name="connsiteY10" fmla="*/ 316421 h 354996"/>
              <a:gd name="connsiteX11" fmla="*/ 89535 w 354996"/>
              <a:gd name="connsiteY11" fmla="*/ 316421 h 354996"/>
              <a:gd name="connsiteX12" fmla="*/ 38576 w 354996"/>
              <a:gd name="connsiteY12" fmla="*/ 265462 h 354996"/>
              <a:gd name="connsiteX13" fmla="*/ 38576 w 354996"/>
              <a:gd name="connsiteY13" fmla="*/ 89535 h 354996"/>
              <a:gd name="connsiteX14" fmla="*/ 89535 w 354996"/>
              <a:gd name="connsiteY14" fmla="*/ 38576 h 354996"/>
              <a:gd name="connsiteX15" fmla="*/ 265462 w 354996"/>
              <a:gd name="connsiteY15" fmla="*/ 38576 h 354996"/>
              <a:gd name="connsiteX16" fmla="*/ 316421 w 354996"/>
              <a:gd name="connsiteY16" fmla="*/ 89535 h 354996"/>
              <a:gd name="connsiteX17" fmla="*/ 316421 w 354996"/>
              <a:gd name="connsiteY17" fmla="*/ 265462 h 354996"/>
            </a:gdLst>
            <a:ahLst/>
            <a:cxnLst/>
            <a:rect l="l" t="t" r="r" b="b"/>
            <a:pathLst>
              <a:path w="354996" h="354996">
                <a:moveTo>
                  <a:pt x="265462" y="0"/>
                </a:moveTo>
                <a:lnTo>
                  <a:pt x="89535" y="0"/>
                </a:lnTo>
                <a:cubicBezTo>
                  <a:pt x="40196" y="0"/>
                  <a:pt x="0" y="40196"/>
                  <a:pt x="0" y="89535"/>
                </a:cubicBezTo>
                <a:lnTo>
                  <a:pt x="0" y="265462"/>
                </a:lnTo>
                <a:cubicBezTo>
                  <a:pt x="0" y="314896"/>
                  <a:pt x="40196" y="354997"/>
                  <a:pt x="89535" y="354997"/>
                </a:cubicBezTo>
                <a:lnTo>
                  <a:pt x="265462" y="354997"/>
                </a:lnTo>
                <a:cubicBezTo>
                  <a:pt x="314801" y="354997"/>
                  <a:pt x="354997" y="314801"/>
                  <a:pt x="354997" y="265462"/>
                </a:cubicBezTo>
                <a:lnTo>
                  <a:pt x="354997" y="89535"/>
                </a:lnTo>
                <a:cubicBezTo>
                  <a:pt x="354997" y="40196"/>
                  <a:pt x="314801" y="0"/>
                  <a:pt x="265462" y="0"/>
                </a:cubicBezTo>
                <a:close/>
                <a:moveTo>
                  <a:pt x="316421" y="265462"/>
                </a:moveTo>
                <a:cubicBezTo>
                  <a:pt x="316421" y="293560"/>
                  <a:pt x="293561" y="316421"/>
                  <a:pt x="265462" y="316421"/>
                </a:cubicBezTo>
                <a:lnTo>
                  <a:pt x="89535" y="316421"/>
                </a:lnTo>
                <a:cubicBezTo>
                  <a:pt x="61436" y="316421"/>
                  <a:pt x="38576" y="293560"/>
                  <a:pt x="38576" y="265462"/>
                </a:cubicBezTo>
                <a:lnTo>
                  <a:pt x="38576" y="89535"/>
                </a:lnTo>
                <a:cubicBezTo>
                  <a:pt x="38576" y="61436"/>
                  <a:pt x="61436" y="38576"/>
                  <a:pt x="89535" y="38576"/>
                </a:cubicBezTo>
                <a:lnTo>
                  <a:pt x="265462" y="38576"/>
                </a:lnTo>
                <a:cubicBezTo>
                  <a:pt x="293561" y="38576"/>
                  <a:pt x="316421" y="61436"/>
                  <a:pt x="316421" y="89535"/>
                </a:cubicBezTo>
                <a:lnTo>
                  <a:pt x="316421" y="265462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611DCFC7-265A-A74C-9128-D2C19FEB1FE1}"/>
              </a:ext>
            </a:extLst>
          </p:cNvPr>
          <p:cNvSpPr>
            <a:spLocks noGrp="1"/>
          </p:cNvSpPr>
          <p:nvPr/>
        </p:nvSpPr>
        <p:spPr>
          <a:xfrm>
            <a:off x="5242757" y="2546319"/>
            <a:ext cx="395084" cy="395087"/>
          </a:xfrm>
          <a:custGeom>
            <a:avLst/>
            <a:gdLst>
              <a:gd name="connsiteX0" fmla="*/ 91440 w 182879"/>
              <a:gd name="connsiteY0" fmla="*/ 0 h 182880"/>
              <a:gd name="connsiteX1" fmla="*/ 0 w 182879"/>
              <a:gd name="connsiteY1" fmla="*/ 91440 h 182880"/>
              <a:gd name="connsiteX2" fmla="*/ 91440 w 182879"/>
              <a:gd name="connsiteY2" fmla="*/ 182880 h 182880"/>
              <a:gd name="connsiteX3" fmla="*/ 182880 w 182879"/>
              <a:gd name="connsiteY3" fmla="*/ 91440 h 182880"/>
              <a:gd name="connsiteX4" fmla="*/ 91440 w 182879"/>
              <a:gd name="connsiteY4" fmla="*/ 0 h 182880"/>
              <a:gd name="connsiteX5" fmla="*/ 91440 w 182879"/>
              <a:gd name="connsiteY5" fmla="*/ 144209 h 182880"/>
              <a:gd name="connsiteX6" fmla="*/ 38671 w 182879"/>
              <a:gd name="connsiteY6" fmla="*/ 91440 h 182880"/>
              <a:gd name="connsiteX7" fmla="*/ 91440 w 182879"/>
              <a:gd name="connsiteY7" fmla="*/ 38672 h 182880"/>
              <a:gd name="connsiteX8" fmla="*/ 144304 w 182879"/>
              <a:gd name="connsiteY8" fmla="*/ 91440 h 182880"/>
              <a:gd name="connsiteX9" fmla="*/ 91440 w 182879"/>
              <a:gd name="connsiteY9" fmla="*/ 144209 h 182880"/>
            </a:gdLst>
            <a:ahLst/>
            <a:cxnLst/>
            <a:rect l="l" t="t" r="r" b="b"/>
            <a:pathLst>
              <a:path w="182879" h="182880">
                <a:moveTo>
                  <a:pt x="91440" y="0"/>
                </a:moveTo>
                <a:cubicBezTo>
                  <a:pt x="41053" y="0"/>
                  <a:pt x="0" y="41053"/>
                  <a:pt x="0" y="91440"/>
                </a:cubicBezTo>
                <a:cubicBezTo>
                  <a:pt x="0" y="141827"/>
                  <a:pt x="41053" y="182880"/>
                  <a:pt x="91440" y="182880"/>
                </a:cubicBezTo>
                <a:cubicBezTo>
                  <a:pt x="141827" y="182880"/>
                  <a:pt x="182880" y="141827"/>
                  <a:pt x="182880" y="91440"/>
                </a:cubicBezTo>
                <a:cubicBezTo>
                  <a:pt x="182880" y="41053"/>
                  <a:pt x="141922" y="0"/>
                  <a:pt x="91440" y="0"/>
                </a:cubicBezTo>
                <a:close/>
                <a:moveTo>
                  <a:pt x="91440" y="144209"/>
                </a:moveTo>
                <a:cubicBezTo>
                  <a:pt x="62389" y="144209"/>
                  <a:pt x="38671" y="120491"/>
                  <a:pt x="38671" y="91440"/>
                </a:cubicBezTo>
                <a:cubicBezTo>
                  <a:pt x="38671" y="62389"/>
                  <a:pt x="62389" y="38672"/>
                  <a:pt x="91440" y="38672"/>
                </a:cubicBezTo>
                <a:cubicBezTo>
                  <a:pt x="120491" y="38672"/>
                  <a:pt x="144304" y="62389"/>
                  <a:pt x="144304" y="91440"/>
                </a:cubicBezTo>
                <a:cubicBezTo>
                  <a:pt x="144304" y="120491"/>
                  <a:pt x="120586" y="144209"/>
                  <a:pt x="91440" y="144209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CF71412B-57D0-8C3F-863B-747D72482FB6}"/>
              </a:ext>
            </a:extLst>
          </p:cNvPr>
          <p:cNvSpPr>
            <a:spLocks noGrp="1"/>
          </p:cNvSpPr>
          <p:nvPr/>
        </p:nvSpPr>
        <p:spPr>
          <a:xfrm>
            <a:off x="7476232" y="2162342"/>
            <a:ext cx="1173737" cy="1173736"/>
          </a:xfrm>
          <a:custGeom>
            <a:avLst/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ahLst/>
            <a:cxnLst/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7" name="Freeform 126">
            <a:extLst>
              <a:ext uri="{FF2B5EF4-FFF2-40B4-BE49-F238E27FC236}">
                <a16:creationId xmlns:a16="http://schemas.microsoft.com/office/drawing/2014/main" id="{432E9776-B6B4-0737-83B3-225F4D4AE1BF}"/>
              </a:ext>
            </a:extLst>
          </p:cNvPr>
          <p:cNvSpPr>
            <a:spLocks noGrp="1"/>
          </p:cNvSpPr>
          <p:nvPr/>
        </p:nvSpPr>
        <p:spPr>
          <a:xfrm>
            <a:off x="7673366" y="2474504"/>
            <a:ext cx="779474" cy="549416"/>
          </a:xfrm>
          <a:custGeom>
            <a:avLst/>
            <a:gdLst>
              <a:gd name="connsiteX0" fmla="*/ 353282 w 360807"/>
              <a:gd name="connsiteY0" fmla="*/ 39719 h 254317"/>
              <a:gd name="connsiteX1" fmla="*/ 321373 w 360807"/>
              <a:gd name="connsiteY1" fmla="*/ 7620 h 254317"/>
              <a:gd name="connsiteX2" fmla="*/ 180404 w 360807"/>
              <a:gd name="connsiteY2" fmla="*/ 0 h 254317"/>
              <a:gd name="connsiteX3" fmla="*/ 39433 w 360807"/>
              <a:gd name="connsiteY3" fmla="*/ 7620 h 254317"/>
              <a:gd name="connsiteX4" fmla="*/ 7525 w 360807"/>
              <a:gd name="connsiteY4" fmla="*/ 39719 h 254317"/>
              <a:gd name="connsiteX5" fmla="*/ 0 w 360807"/>
              <a:gd name="connsiteY5" fmla="*/ 127159 h 254317"/>
              <a:gd name="connsiteX6" fmla="*/ 7525 w 360807"/>
              <a:gd name="connsiteY6" fmla="*/ 214598 h 254317"/>
              <a:gd name="connsiteX7" fmla="*/ 39433 w 360807"/>
              <a:gd name="connsiteY7" fmla="*/ 246697 h 254317"/>
              <a:gd name="connsiteX8" fmla="*/ 180404 w 360807"/>
              <a:gd name="connsiteY8" fmla="*/ 254317 h 254317"/>
              <a:gd name="connsiteX9" fmla="*/ 321373 w 360807"/>
              <a:gd name="connsiteY9" fmla="*/ 246697 h 254317"/>
              <a:gd name="connsiteX10" fmla="*/ 353282 w 360807"/>
              <a:gd name="connsiteY10" fmla="*/ 214598 h 254317"/>
              <a:gd name="connsiteX11" fmla="*/ 360807 w 360807"/>
              <a:gd name="connsiteY11" fmla="*/ 127159 h 254317"/>
              <a:gd name="connsiteX12" fmla="*/ 353282 w 360807"/>
              <a:gd name="connsiteY12" fmla="*/ 39719 h 254317"/>
              <a:gd name="connsiteX13" fmla="*/ 143542 w 360807"/>
              <a:gd name="connsiteY13" fmla="*/ 180784 h 254317"/>
              <a:gd name="connsiteX14" fmla="*/ 143542 w 360807"/>
              <a:gd name="connsiteY14" fmla="*/ 73533 h 254317"/>
              <a:gd name="connsiteX15" fmla="*/ 237839 w 360807"/>
              <a:gd name="connsiteY15" fmla="*/ 127159 h 254317"/>
              <a:gd name="connsiteX16" fmla="*/ 143542 w 360807"/>
              <a:gd name="connsiteY16" fmla="*/ 180784 h 254317"/>
            </a:gdLst>
            <a:ahLst/>
            <a:cxnLst/>
            <a:rect l="l" t="t" r="r" b="b"/>
            <a:pathLst>
              <a:path w="360807" h="254317">
                <a:moveTo>
                  <a:pt x="353282" y="39719"/>
                </a:moveTo>
                <a:cubicBezTo>
                  <a:pt x="349091" y="24098"/>
                  <a:pt x="336899" y="11811"/>
                  <a:pt x="321373" y="7620"/>
                </a:cubicBezTo>
                <a:cubicBezTo>
                  <a:pt x="293275" y="0"/>
                  <a:pt x="180404" y="0"/>
                  <a:pt x="180404" y="0"/>
                </a:cubicBezTo>
                <a:cubicBezTo>
                  <a:pt x="180404" y="0"/>
                  <a:pt x="67532" y="0"/>
                  <a:pt x="39433" y="7620"/>
                </a:cubicBezTo>
                <a:cubicBezTo>
                  <a:pt x="23908" y="11811"/>
                  <a:pt x="11716" y="24098"/>
                  <a:pt x="7525" y="39719"/>
                </a:cubicBezTo>
                <a:cubicBezTo>
                  <a:pt x="0" y="68008"/>
                  <a:pt x="0" y="127159"/>
                  <a:pt x="0" y="127159"/>
                </a:cubicBezTo>
                <a:cubicBezTo>
                  <a:pt x="0" y="127159"/>
                  <a:pt x="0" y="186214"/>
                  <a:pt x="7525" y="214598"/>
                </a:cubicBezTo>
                <a:cubicBezTo>
                  <a:pt x="11716" y="230219"/>
                  <a:pt x="23908" y="242506"/>
                  <a:pt x="39433" y="246697"/>
                </a:cubicBezTo>
                <a:cubicBezTo>
                  <a:pt x="67532" y="254317"/>
                  <a:pt x="180404" y="254317"/>
                  <a:pt x="180404" y="254317"/>
                </a:cubicBezTo>
                <a:cubicBezTo>
                  <a:pt x="180404" y="254317"/>
                  <a:pt x="293275" y="254317"/>
                  <a:pt x="321373" y="246697"/>
                </a:cubicBezTo>
                <a:cubicBezTo>
                  <a:pt x="336899" y="242506"/>
                  <a:pt x="349091" y="230219"/>
                  <a:pt x="353282" y="214598"/>
                </a:cubicBezTo>
                <a:cubicBezTo>
                  <a:pt x="360807" y="186309"/>
                  <a:pt x="360807" y="127159"/>
                  <a:pt x="360807" y="127159"/>
                </a:cubicBezTo>
                <a:cubicBezTo>
                  <a:pt x="360807" y="127159"/>
                  <a:pt x="360807" y="68104"/>
                  <a:pt x="353282" y="39719"/>
                </a:cubicBezTo>
                <a:close/>
                <a:moveTo>
                  <a:pt x="143542" y="180784"/>
                </a:moveTo>
                <a:lnTo>
                  <a:pt x="143542" y="73533"/>
                </a:lnTo>
                <a:lnTo>
                  <a:pt x="237839" y="127159"/>
                </a:lnTo>
                <a:lnTo>
                  <a:pt x="143542" y="18078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46B36695-9D44-CF4A-14FC-6D97E6B5EEB6}"/>
              </a:ext>
            </a:extLst>
          </p:cNvPr>
          <p:cNvSpPr>
            <a:spLocks noGrp="1"/>
          </p:cNvSpPr>
          <p:nvPr/>
        </p:nvSpPr>
        <p:spPr>
          <a:xfrm>
            <a:off x="2230425" y="2155963"/>
            <a:ext cx="1173735" cy="1173735"/>
          </a:xfrm>
          <a:custGeom>
            <a:avLst/>
            <a:gdLst>
              <a:gd name="connsiteX0" fmla="*/ 0 w 543305"/>
              <a:gd name="connsiteY0" fmla="*/ 0 h 543305"/>
              <a:gd name="connsiteX1" fmla="*/ 543306 w 543305"/>
              <a:gd name="connsiteY1" fmla="*/ 0 h 543305"/>
              <a:gd name="connsiteX2" fmla="*/ 543306 w 543305"/>
              <a:gd name="connsiteY2" fmla="*/ 543306 h 543305"/>
              <a:gd name="connsiteX3" fmla="*/ 0 w 543305"/>
              <a:gd name="connsiteY3" fmla="*/ 543306 h 543305"/>
            </a:gdLst>
            <a:ahLst/>
            <a:cxnLst/>
            <a:rect l="l" t="t" r="r" b="b"/>
            <a:pathLst>
              <a:path w="543305" h="543305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E46E7525-5FF1-8346-5B8E-E85830C2BFE2}"/>
              </a:ext>
            </a:extLst>
          </p:cNvPr>
          <p:cNvSpPr>
            <a:spLocks noGrp="1"/>
          </p:cNvSpPr>
          <p:nvPr/>
        </p:nvSpPr>
        <p:spPr>
          <a:xfrm>
            <a:off x="2450810" y="2615664"/>
            <a:ext cx="157209" cy="505587"/>
          </a:xfrm>
          <a:custGeom>
            <a:avLst/>
            <a:gdLst>
              <a:gd name="connsiteX0" fmla="*/ 0 w 72770"/>
              <a:gd name="connsiteY0" fmla="*/ 0 h 234029"/>
              <a:gd name="connsiteX1" fmla="*/ 72771 w 72770"/>
              <a:gd name="connsiteY1" fmla="*/ 0 h 234029"/>
              <a:gd name="connsiteX2" fmla="*/ 72771 w 72770"/>
              <a:gd name="connsiteY2" fmla="*/ 234029 h 234029"/>
              <a:gd name="connsiteX3" fmla="*/ 0 w 72770"/>
              <a:gd name="connsiteY3" fmla="*/ 234029 h 234029"/>
            </a:gdLst>
            <a:ahLst/>
            <a:cxnLst/>
            <a:rect l="l" t="t" r="r" b="b"/>
            <a:pathLst>
              <a:path w="72770" h="234029">
                <a:moveTo>
                  <a:pt x="0" y="0"/>
                </a:moveTo>
                <a:lnTo>
                  <a:pt x="72771" y="0"/>
                </a:lnTo>
                <a:lnTo>
                  <a:pt x="72771" y="234029"/>
                </a:lnTo>
                <a:lnTo>
                  <a:pt x="0" y="234029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E2643B9D-593C-28B6-33C7-94AC849E27E6}"/>
              </a:ext>
            </a:extLst>
          </p:cNvPr>
          <p:cNvSpPr>
            <a:spLocks noGrp="1"/>
          </p:cNvSpPr>
          <p:nvPr/>
        </p:nvSpPr>
        <p:spPr>
          <a:xfrm>
            <a:off x="2438256" y="2364414"/>
            <a:ext cx="181902" cy="182314"/>
          </a:xfrm>
          <a:custGeom>
            <a:avLst/>
            <a:gdLst>
              <a:gd name="connsiteX0" fmla="*/ 42100 w 84200"/>
              <a:gd name="connsiteY0" fmla="*/ 0 h 84391"/>
              <a:gd name="connsiteX1" fmla="*/ 0 w 84200"/>
              <a:gd name="connsiteY1" fmla="*/ 42196 h 84391"/>
              <a:gd name="connsiteX2" fmla="*/ 42100 w 84200"/>
              <a:gd name="connsiteY2" fmla="*/ 84392 h 84391"/>
              <a:gd name="connsiteX3" fmla="*/ 84201 w 84200"/>
              <a:gd name="connsiteY3" fmla="*/ 42196 h 84391"/>
              <a:gd name="connsiteX4" fmla="*/ 42100 w 84200"/>
              <a:gd name="connsiteY4" fmla="*/ 0 h 84391"/>
            </a:gdLst>
            <a:ahLst/>
            <a:cxnLst/>
            <a:rect l="l" t="t" r="r" b="b"/>
            <a:pathLst>
              <a:path w="84200" h="84391">
                <a:moveTo>
                  <a:pt x="42100" y="0"/>
                </a:moveTo>
                <a:cubicBezTo>
                  <a:pt x="18764" y="0"/>
                  <a:pt x="0" y="18860"/>
                  <a:pt x="0" y="42196"/>
                </a:cubicBezTo>
                <a:cubicBezTo>
                  <a:pt x="0" y="65532"/>
                  <a:pt x="18859" y="84392"/>
                  <a:pt x="42100" y="84392"/>
                </a:cubicBezTo>
                <a:cubicBezTo>
                  <a:pt x="65342" y="84392"/>
                  <a:pt x="84201" y="65532"/>
                  <a:pt x="84201" y="42196"/>
                </a:cubicBezTo>
                <a:cubicBezTo>
                  <a:pt x="84201" y="18860"/>
                  <a:pt x="65342" y="0"/>
                  <a:pt x="4210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DA44CA4D-A7B1-8C2B-5E9A-F02818DF16DD}"/>
              </a:ext>
            </a:extLst>
          </p:cNvPr>
          <p:cNvSpPr>
            <a:spLocks noGrp="1"/>
          </p:cNvSpPr>
          <p:nvPr/>
        </p:nvSpPr>
        <p:spPr>
          <a:xfrm>
            <a:off x="2706586" y="2603112"/>
            <a:ext cx="489948" cy="518138"/>
          </a:xfrm>
          <a:custGeom>
            <a:avLst/>
            <a:gdLst>
              <a:gd name="connsiteX0" fmla="*/ 139446 w 226790"/>
              <a:gd name="connsiteY0" fmla="*/ 0 h 239839"/>
              <a:gd name="connsiteX1" fmla="*/ 70675 w 226790"/>
              <a:gd name="connsiteY1" fmla="*/ 37814 h 239839"/>
              <a:gd name="connsiteX2" fmla="*/ 69723 w 226790"/>
              <a:gd name="connsiteY2" fmla="*/ 37814 h 239839"/>
              <a:gd name="connsiteX3" fmla="*/ 69723 w 226790"/>
              <a:gd name="connsiteY3" fmla="*/ 5810 h 239839"/>
              <a:gd name="connsiteX4" fmla="*/ 0 w 226790"/>
              <a:gd name="connsiteY4" fmla="*/ 5810 h 239839"/>
              <a:gd name="connsiteX5" fmla="*/ 0 w 226790"/>
              <a:gd name="connsiteY5" fmla="*/ 239839 h 239839"/>
              <a:gd name="connsiteX6" fmla="*/ 72676 w 226790"/>
              <a:gd name="connsiteY6" fmla="*/ 239839 h 239839"/>
              <a:gd name="connsiteX7" fmla="*/ 72676 w 226790"/>
              <a:gd name="connsiteY7" fmla="*/ 124111 h 239839"/>
              <a:gd name="connsiteX8" fmla="*/ 116300 w 226790"/>
              <a:gd name="connsiteY8" fmla="*/ 64008 h 239839"/>
              <a:gd name="connsiteX9" fmla="*/ 154115 w 226790"/>
              <a:gd name="connsiteY9" fmla="*/ 126016 h 239839"/>
              <a:gd name="connsiteX10" fmla="*/ 154115 w 226790"/>
              <a:gd name="connsiteY10" fmla="*/ 239839 h 239839"/>
              <a:gd name="connsiteX11" fmla="*/ 226790 w 226790"/>
              <a:gd name="connsiteY11" fmla="*/ 239839 h 239839"/>
              <a:gd name="connsiteX12" fmla="*/ 226790 w 226790"/>
              <a:gd name="connsiteY12" fmla="*/ 111538 h 239839"/>
              <a:gd name="connsiteX13" fmla="*/ 139541 w 226790"/>
              <a:gd name="connsiteY13" fmla="*/ 95 h 239839"/>
            </a:gdLst>
            <a:ahLst/>
            <a:cxnLst/>
            <a:rect l="l" t="t" r="r" b="b"/>
            <a:pathLst>
              <a:path w="226790" h="239839">
                <a:moveTo>
                  <a:pt x="139446" y="0"/>
                </a:moveTo>
                <a:cubicBezTo>
                  <a:pt x="104108" y="0"/>
                  <a:pt x="80391" y="19431"/>
                  <a:pt x="70675" y="37814"/>
                </a:cubicBezTo>
                <a:lnTo>
                  <a:pt x="69723" y="37814"/>
                </a:lnTo>
                <a:lnTo>
                  <a:pt x="69723" y="5810"/>
                </a:lnTo>
                <a:lnTo>
                  <a:pt x="0" y="5810"/>
                </a:lnTo>
                <a:lnTo>
                  <a:pt x="0" y="239839"/>
                </a:lnTo>
                <a:lnTo>
                  <a:pt x="72676" y="239839"/>
                </a:lnTo>
                <a:lnTo>
                  <a:pt x="72676" y="124111"/>
                </a:lnTo>
                <a:cubicBezTo>
                  <a:pt x="72676" y="93631"/>
                  <a:pt x="78486" y="64008"/>
                  <a:pt x="116300" y="64008"/>
                </a:cubicBezTo>
                <a:cubicBezTo>
                  <a:pt x="154115" y="64008"/>
                  <a:pt x="154115" y="98869"/>
                  <a:pt x="154115" y="126016"/>
                </a:cubicBezTo>
                <a:lnTo>
                  <a:pt x="154115" y="239839"/>
                </a:lnTo>
                <a:lnTo>
                  <a:pt x="226790" y="239839"/>
                </a:lnTo>
                <a:lnTo>
                  <a:pt x="226790" y="111538"/>
                </a:lnTo>
                <a:cubicBezTo>
                  <a:pt x="226790" y="48577"/>
                  <a:pt x="213170" y="95"/>
                  <a:pt x="139541" y="9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D7235AA9-6C56-4AF4-5D5D-249E43C4A4B9}"/>
              </a:ext>
            </a:extLst>
          </p:cNvPr>
          <p:cNvSpPr>
            <a:spLocks noGrp="1"/>
          </p:cNvSpPr>
          <p:nvPr/>
        </p:nvSpPr>
        <p:spPr>
          <a:xfrm>
            <a:off x="8787839" y="2156993"/>
            <a:ext cx="1173735" cy="1173736"/>
          </a:xfrm>
          <a:custGeom>
            <a:avLst/>
            <a:gdLst>
              <a:gd name="connsiteX0" fmla="*/ 0 w 543305"/>
              <a:gd name="connsiteY0" fmla="*/ 0 h 543306"/>
              <a:gd name="connsiteX1" fmla="*/ 543306 w 543305"/>
              <a:gd name="connsiteY1" fmla="*/ 0 h 543306"/>
              <a:gd name="connsiteX2" fmla="*/ 543306 w 543305"/>
              <a:gd name="connsiteY2" fmla="*/ 543306 h 543306"/>
              <a:gd name="connsiteX3" fmla="*/ 0 w 543305"/>
              <a:gd name="connsiteY3" fmla="*/ 543306 h 543306"/>
            </a:gdLst>
            <a:ahLst/>
            <a:cxnLst/>
            <a:rect l="l" t="t" r="r" b="b"/>
            <a:pathLst>
              <a:path w="543305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79F594E5-39F7-5122-ACD7-B01BB6AD6085}"/>
              </a:ext>
            </a:extLst>
          </p:cNvPr>
          <p:cNvSpPr>
            <a:spLocks noGrp="1"/>
          </p:cNvSpPr>
          <p:nvPr/>
        </p:nvSpPr>
        <p:spPr>
          <a:xfrm>
            <a:off x="9432941" y="2566896"/>
            <a:ext cx="353931" cy="353932"/>
          </a:xfrm>
          <a:custGeom>
            <a:avLst/>
            <a:gdLst>
              <a:gd name="connsiteX0" fmla="*/ 81915 w 163830"/>
              <a:gd name="connsiteY0" fmla="*/ 0 h 163830"/>
              <a:gd name="connsiteX1" fmla="*/ 0 w 163830"/>
              <a:gd name="connsiteY1" fmla="*/ 81915 h 163830"/>
              <a:gd name="connsiteX2" fmla="*/ 81915 w 163830"/>
              <a:gd name="connsiteY2" fmla="*/ 163830 h 163830"/>
              <a:gd name="connsiteX3" fmla="*/ 163830 w 163830"/>
              <a:gd name="connsiteY3" fmla="*/ 81915 h 163830"/>
              <a:gd name="connsiteX4" fmla="*/ 81915 w 163830"/>
              <a:gd name="connsiteY4" fmla="*/ 0 h 163830"/>
            </a:gdLst>
            <a:ahLst/>
            <a:cxnLst/>
            <a:rect l="l" t="t" r="r" b="b"/>
            <a:pathLst>
              <a:path w="163830" h="163830">
                <a:moveTo>
                  <a:pt x="81915" y="0"/>
                </a:moveTo>
                <a:cubicBezTo>
                  <a:pt x="36672" y="0"/>
                  <a:pt x="0" y="36671"/>
                  <a:pt x="0" y="81915"/>
                </a:cubicBezTo>
                <a:cubicBezTo>
                  <a:pt x="0" y="127159"/>
                  <a:pt x="36672" y="163830"/>
                  <a:pt x="81915" y="163830"/>
                </a:cubicBezTo>
                <a:cubicBezTo>
                  <a:pt x="127159" y="163830"/>
                  <a:pt x="163830" y="127159"/>
                  <a:pt x="163830" y="81915"/>
                </a:cubicBezTo>
                <a:cubicBezTo>
                  <a:pt x="163830" y="36671"/>
                  <a:pt x="127159" y="0"/>
                  <a:pt x="81915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4" name="Freeform 133">
            <a:extLst>
              <a:ext uri="{FF2B5EF4-FFF2-40B4-BE49-F238E27FC236}">
                <a16:creationId xmlns:a16="http://schemas.microsoft.com/office/drawing/2014/main" id="{9221A9C7-C6AD-0626-16DC-BE6C6F74C19B}"/>
              </a:ext>
            </a:extLst>
          </p:cNvPr>
          <p:cNvSpPr>
            <a:spLocks noGrp="1"/>
          </p:cNvSpPr>
          <p:nvPr/>
        </p:nvSpPr>
        <p:spPr>
          <a:xfrm>
            <a:off x="8962334" y="2566896"/>
            <a:ext cx="353931" cy="353929"/>
          </a:xfrm>
          <a:custGeom>
            <a:avLst/>
            <a:gdLst>
              <a:gd name="connsiteX0" fmla="*/ 163830 w 163830"/>
              <a:gd name="connsiteY0" fmla="*/ 81915 h 163829"/>
              <a:gd name="connsiteX1" fmla="*/ 81915 w 163830"/>
              <a:gd name="connsiteY1" fmla="*/ 163830 h 163829"/>
              <a:gd name="connsiteX2" fmla="*/ 1 w 163830"/>
              <a:gd name="connsiteY2" fmla="*/ 81915 h 163829"/>
              <a:gd name="connsiteX3" fmla="*/ 81915 w 163830"/>
              <a:gd name="connsiteY3" fmla="*/ 0 h 163829"/>
              <a:gd name="connsiteX4" fmla="*/ 163830 w 163830"/>
              <a:gd name="connsiteY4" fmla="*/ 81915 h 163829"/>
            </a:gdLst>
            <a:ahLst/>
            <a:cxnLst/>
            <a:rect l="l" t="t" r="r" b="b"/>
            <a:pathLst>
              <a:path w="163830" h="163829">
                <a:moveTo>
                  <a:pt x="163830" y="81915"/>
                </a:moveTo>
                <a:cubicBezTo>
                  <a:pt x="163830" y="127155"/>
                  <a:pt x="127156" y="163830"/>
                  <a:pt x="81915" y="163830"/>
                </a:cubicBezTo>
                <a:cubicBezTo>
                  <a:pt x="36675" y="163830"/>
                  <a:pt x="1" y="127155"/>
                  <a:pt x="1" y="81915"/>
                </a:cubicBezTo>
                <a:cubicBezTo>
                  <a:pt x="1" y="36675"/>
                  <a:pt x="36675" y="0"/>
                  <a:pt x="81915" y="0"/>
                </a:cubicBezTo>
                <a:cubicBezTo>
                  <a:pt x="127156" y="0"/>
                  <a:pt x="163830" y="36675"/>
                  <a:pt x="163830" y="8191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5" name="Freeform 134">
            <a:extLst>
              <a:ext uri="{FF2B5EF4-FFF2-40B4-BE49-F238E27FC236}">
                <a16:creationId xmlns:a16="http://schemas.microsoft.com/office/drawing/2014/main" id="{2857E51B-0F39-5587-5067-B466AAFF56CC}"/>
              </a:ext>
            </a:extLst>
          </p:cNvPr>
          <p:cNvSpPr>
            <a:spLocks noGrp="1"/>
          </p:cNvSpPr>
          <p:nvPr/>
        </p:nvSpPr>
        <p:spPr>
          <a:xfrm>
            <a:off x="3542030" y="2159050"/>
            <a:ext cx="1173737" cy="1173736"/>
          </a:xfrm>
          <a:custGeom>
            <a:avLst/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ahLst/>
            <a:cxnLst/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>
            <a:srgbClr val="007934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6" name="Freeform 135">
            <a:extLst>
              <a:ext uri="{FF2B5EF4-FFF2-40B4-BE49-F238E27FC236}">
                <a16:creationId xmlns:a16="http://schemas.microsoft.com/office/drawing/2014/main" id="{B9A5378C-3AD2-2975-4FF4-12CED3D169DD}"/>
              </a:ext>
            </a:extLst>
          </p:cNvPr>
          <p:cNvSpPr>
            <a:spLocks noGrp="1"/>
          </p:cNvSpPr>
          <p:nvPr/>
        </p:nvSpPr>
        <p:spPr>
          <a:xfrm>
            <a:off x="3757682" y="2366677"/>
            <a:ext cx="742021" cy="758278"/>
          </a:xfrm>
          <a:custGeom>
            <a:avLst/>
            <a:gdLst>
              <a:gd name="connsiteX0" fmla="*/ 204406 w 343471"/>
              <a:gd name="connsiteY0" fmla="*/ 148685 h 350996"/>
              <a:gd name="connsiteX1" fmla="*/ 332327 w 343471"/>
              <a:gd name="connsiteY1" fmla="*/ 0 h 350996"/>
              <a:gd name="connsiteX2" fmla="*/ 302038 w 343471"/>
              <a:gd name="connsiteY2" fmla="*/ 0 h 350996"/>
              <a:gd name="connsiteX3" fmla="*/ 190976 w 343471"/>
              <a:gd name="connsiteY3" fmla="*/ 129064 h 350996"/>
              <a:gd name="connsiteX4" fmla="*/ 102298 w 343471"/>
              <a:gd name="connsiteY4" fmla="*/ 0 h 350996"/>
              <a:gd name="connsiteX5" fmla="*/ 0 w 343471"/>
              <a:gd name="connsiteY5" fmla="*/ 0 h 350996"/>
              <a:gd name="connsiteX6" fmla="*/ 134112 w 343471"/>
              <a:gd name="connsiteY6" fmla="*/ 195167 h 350996"/>
              <a:gd name="connsiteX7" fmla="*/ 0 w 343471"/>
              <a:gd name="connsiteY7" fmla="*/ 350996 h 350996"/>
              <a:gd name="connsiteX8" fmla="*/ 30289 w 343471"/>
              <a:gd name="connsiteY8" fmla="*/ 350996 h 350996"/>
              <a:gd name="connsiteX9" fmla="*/ 147542 w 343471"/>
              <a:gd name="connsiteY9" fmla="*/ 214694 h 350996"/>
              <a:gd name="connsiteX10" fmla="*/ 241173 w 343471"/>
              <a:gd name="connsiteY10" fmla="*/ 350996 h 350996"/>
              <a:gd name="connsiteX11" fmla="*/ 343471 w 343471"/>
              <a:gd name="connsiteY11" fmla="*/ 350996 h 350996"/>
              <a:gd name="connsiteX12" fmla="*/ 204406 w 343471"/>
              <a:gd name="connsiteY12" fmla="*/ 148590 h 350996"/>
              <a:gd name="connsiteX13" fmla="*/ 204406 w 343471"/>
              <a:gd name="connsiteY13" fmla="*/ 148590 h 350996"/>
              <a:gd name="connsiteX14" fmla="*/ 162973 w 343471"/>
              <a:gd name="connsiteY14" fmla="*/ 196882 h 350996"/>
              <a:gd name="connsiteX15" fmla="*/ 149352 w 343471"/>
              <a:gd name="connsiteY15" fmla="*/ 177451 h 350996"/>
              <a:gd name="connsiteX16" fmla="*/ 41243 w 343471"/>
              <a:gd name="connsiteY16" fmla="*/ 22765 h 350996"/>
              <a:gd name="connsiteX17" fmla="*/ 87821 w 343471"/>
              <a:gd name="connsiteY17" fmla="*/ 22765 h 350996"/>
              <a:gd name="connsiteX18" fmla="*/ 175070 w 343471"/>
              <a:gd name="connsiteY18" fmla="*/ 147542 h 350996"/>
              <a:gd name="connsiteX19" fmla="*/ 188690 w 343471"/>
              <a:gd name="connsiteY19" fmla="*/ 166973 h 350996"/>
              <a:gd name="connsiteX20" fmla="*/ 302133 w 343471"/>
              <a:gd name="connsiteY20" fmla="*/ 329184 h 350996"/>
              <a:gd name="connsiteX21" fmla="*/ 255556 w 343471"/>
              <a:gd name="connsiteY21" fmla="*/ 329184 h 350996"/>
              <a:gd name="connsiteX22" fmla="*/ 162973 w 343471"/>
              <a:gd name="connsiteY22" fmla="*/ 196787 h 350996"/>
              <a:gd name="connsiteX23" fmla="*/ 162973 w 343471"/>
              <a:gd name="connsiteY23" fmla="*/ 196787 h 350996"/>
            </a:gdLst>
            <a:ahLst/>
            <a:cxnLst/>
            <a:rect l="l" t="t" r="r" b="b"/>
            <a:pathLst>
              <a:path w="343471" h="350996">
                <a:moveTo>
                  <a:pt x="204406" y="148685"/>
                </a:moveTo>
                <a:lnTo>
                  <a:pt x="332327" y="0"/>
                </a:lnTo>
                <a:lnTo>
                  <a:pt x="302038" y="0"/>
                </a:lnTo>
                <a:lnTo>
                  <a:pt x="190976" y="129064"/>
                </a:lnTo>
                <a:lnTo>
                  <a:pt x="102298" y="0"/>
                </a:lnTo>
                <a:lnTo>
                  <a:pt x="0" y="0"/>
                </a:lnTo>
                <a:lnTo>
                  <a:pt x="134112" y="195167"/>
                </a:lnTo>
                <a:lnTo>
                  <a:pt x="0" y="350996"/>
                </a:lnTo>
                <a:lnTo>
                  <a:pt x="30289" y="350996"/>
                </a:lnTo>
                <a:lnTo>
                  <a:pt x="147542" y="214694"/>
                </a:lnTo>
                <a:lnTo>
                  <a:pt x="241173" y="350996"/>
                </a:lnTo>
                <a:lnTo>
                  <a:pt x="343471" y="350996"/>
                </a:lnTo>
                <a:lnTo>
                  <a:pt x="204406" y="148590"/>
                </a:lnTo>
                <a:lnTo>
                  <a:pt x="204406" y="148590"/>
                </a:lnTo>
                <a:close/>
                <a:moveTo>
                  <a:pt x="162973" y="196882"/>
                </a:moveTo>
                <a:lnTo>
                  <a:pt x="149352" y="177451"/>
                </a:lnTo>
                <a:lnTo>
                  <a:pt x="41243" y="22765"/>
                </a:lnTo>
                <a:lnTo>
                  <a:pt x="87821" y="22765"/>
                </a:lnTo>
                <a:lnTo>
                  <a:pt x="175070" y="147542"/>
                </a:lnTo>
                <a:lnTo>
                  <a:pt x="188690" y="166973"/>
                </a:lnTo>
                <a:lnTo>
                  <a:pt x="302133" y="329184"/>
                </a:lnTo>
                <a:lnTo>
                  <a:pt x="255556" y="329184"/>
                </a:lnTo>
                <a:lnTo>
                  <a:pt x="162973" y="196787"/>
                </a:lnTo>
                <a:lnTo>
                  <a:pt x="162973" y="196787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AE593DB-8ADA-2B81-0837-94D520E63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t>Keep up with ORNL’s latest scientific discoveries, economic impacts, and solutions for energy and national security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85">
            <a:extLst>
              <a:ext uri="{FF2B5EF4-FFF2-40B4-BE49-F238E27FC236}">
                <a16:creationId xmlns:a16="http://schemas.microsoft.com/office/drawing/2014/main" id="{A221A909-7978-429A-8D2D-A79E7938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C6AF8CF2-170F-454C-B76F-1058F6AAE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9255" y="2735048"/>
            <a:ext cx="5773490" cy="1387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97F97-DD05-46DC-A43C-9A85A489A4DD}"/>
              </a:ext>
            </a:extLst>
          </p:cNvPr>
          <p:cNvSpPr>
            <a:spLocks noGrp="1"/>
          </p:cNvSpPr>
          <p:nvPr/>
        </p:nvSpPr>
        <p:spPr>
          <a:xfrm>
            <a:off x="5726509" y="6157095"/>
            <a:ext cx="3047982" cy="369332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</a:br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07FE53-7CE9-49F8-BB12-6CFD0A464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981" y="6109219"/>
            <a:ext cx="1528065" cy="4389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noGrp="1"/>
          </p:cNvSpPr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100" b="1" i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  <a:endParaRPr sz="1100" b="1" i="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1" name="Rectangle 256">
            <a:extLst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>
            <a:spLocks noGrp="1"/>
          </p:cNvSpPr>
          <p:nvPr/>
        </p:nvSpPr>
        <p:spPr>
          <a:xfrm>
            <a:off x="7599464" y="6576851"/>
            <a:ext cx="3860800" cy="152400"/>
          </a:xfrm>
          <a:prstGeom prst="rect">
            <a:avLst/>
          </a:prstGeom>
        </p:spPr>
        <p:txBody>
          <a:bodyPr anchor="ctr"/>
          <a:lstStyle/>
          <a:p>
            <a:pPr algn="r">
              <a:buNone/>
            </a:pPr>
            <a:r>
              <a:rPr sz="1000">
                <a:solidFill>
                  <a:schemeClr val="bg2"/>
                </a:solidFill>
                <a:latin typeface="Aptos Light"/>
                <a:ea typeface="Aptos Light"/>
                <a:cs typeface="Aptos Light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749844-12C3-48AC-B521-7737DA7A8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None/>
        <a:defRPr sz="22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AB052-C5ED-4604-BB32-C7CFB365406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October 2026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40AEFE4-FC6B-833B-82E7-A7EE5A93C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85" y="2457450"/>
            <a:ext cx="4619625" cy="1143000"/>
          </a:xfrm>
        </p:spPr>
        <p:txBody>
          <a:bodyPr lIns="0" tIns="0" rIns="0" bIns="0"/>
          <a:lstStyle>
            <a:defPPr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73A36"/>
                </a:solidFill>
                <a:latin typeface="Aptos"/>
                <a:ea typeface="Aptos"/>
                <a:cs typeface="Aptos"/>
              </a:rPr>
              <a:t>Weekly water</a:t>
            </a:r>
            <a:endParaRPr/>
          </a:p>
          <a:p>
            <a:pPr>
              <a:buNone/>
              <a:defRPr sz="285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73A36"/>
                </a:solidFill>
                <a:latin typeface="Aptos"/>
                <a:ea typeface="Aptos"/>
                <a:cs typeface="Aptos"/>
              </a:rPr>
              <a:t>availability prediction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89EEB3-D837-5DCD-2436-D960BE2A62A2}"/>
              </a:ext>
            </a:extLst>
          </p:cNvPr>
          <p:cNvSpPr txBox="1"/>
          <p:nvPr/>
        </p:nvSpPr>
        <p:spPr>
          <a:xfrm>
            <a:off x="1085022" y="4038600"/>
            <a:ext cx="488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Yang Chen, Sean Turner, Haoran Niu, Dali Wang </a:t>
            </a:r>
          </a:p>
        </p:txBody>
      </p:sp>
    </p:spTree>
    <p:extLst>
      <p:ext uri="{BB962C8B-B14F-4D97-AF65-F5344CB8AC3E}">
        <p14:creationId xmlns:p14="http://schemas.microsoft.com/office/powerpoint/2010/main" val="425199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Watershed preparation and weekly inputs">
            <a:extLst>
              <a:ext uri="{FF2B5EF4-FFF2-40B4-BE49-F238E27FC236}">
                <a16:creationId xmlns:a16="http://schemas.microsoft.com/office/drawing/2014/main" id="{DD12DBED-C7DC-4EFE-B017-EED7CAA7260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lang="en-US"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Data Inputs and prediction target</a:t>
            </a:r>
            <a:endParaRPr sz="2700" b="1" dirty="0">
              <a:solidFill>
                <a:srgbClr val="373A36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5FFD17-2AE0-4E25-AE39-A4B6BC59A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043970"/>
              </p:ext>
            </p:extLst>
          </p:nvPr>
        </p:nvGraphicFramePr>
        <p:xfrm>
          <a:off x="457200" y="1038225"/>
          <a:ext cx="11239500" cy="298428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001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Predictor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and processing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 unit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Precipitation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Daymet daily precipitation, summed over 7 days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mm/week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Temperature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Daymet daily (Tmax + Tmin)/2, averaged over 7 days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°C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Runoff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NLDAS-2 Noah surface runoff + baseflow, summed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mm/week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Elevation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Area-weighted mean of the supplied elevation grid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m, static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Estimated Local Flow (ELF) is the reference target supplied by TV">
            <a:extLst>
              <a:ext uri="{FF2B5EF4-FFF2-40B4-BE49-F238E27FC236}">
                <a16:creationId xmlns:a16="http://schemas.microsoft.com/office/drawing/2014/main" id="{4E0A26C0-2B96-C39E-819E-02A2F2B20D6C}"/>
              </a:ext>
            </a:extLst>
          </p:cNvPr>
          <p:cNvSpPr>
            <a:spLocks noGrp="1"/>
          </p:cNvSpPr>
          <p:nvPr/>
        </p:nvSpPr>
        <p:spPr>
          <a:xfrm>
            <a:off x="570843" y="4379857"/>
            <a:ext cx="11239500" cy="15164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lang="en-US" sz="1575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Prediction target: </a:t>
            </a:r>
            <a:r>
              <a:rPr sz="1575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Estimated Local Flow (ELF) is the reference target</a:t>
            </a:r>
            <a:r>
              <a:rPr lang="en-US" sz="1575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. Totally 52 locations (30 </a:t>
            </a:r>
            <a:r>
              <a:rPr lang="en-US" sz="1600" dirty="0">
                <a:solidFill>
                  <a:schemeClr val="tx1"/>
                </a:solidFill>
              </a:rPr>
              <a:t>reservoirs + 22 river gauges)</a:t>
            </a: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sz="1575" b="1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sz="1575" b="1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b="1" dirty="0">
              <a:solidFill>
                <a:schemeClr val="tx1"/>
              </a:solidFill>
            </a:endParaRP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sz="1575" b="1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b="1" dirty="0">
              <a:solidFill>
                <a:schemeClr val="tx1"/>
              </a:solidFill>
            </a:endParaRPr>
          </a:p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sz="1575" b="1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ELF is not automatically total downstream inflow. Nickajack remai">
            <a:extLst>
              <a:ext uri="{FF2B5EF4-FFF2-40B4-BE49-F238E27FC236}">
                <a16:creationId xmlns:a16="http://schemas.microsoft.com/office/drawing/2014/main" id="{1A66A4D1-6873-2427-5356-AA7046845686}"/>
              </a:ext>
            </a:extLst>
          </p:cNvPr>
          <p:cNvSpPr>
            <a:spLocks noGrp="1"/>
          </p:cNvSpPr>
          <p:nvPr/>
        </p:nvSpPr>
        <p:spPr>
          <a:xfrm>
            <a:off x="570843" y="4718979"/>
            <a:ext cx="1123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ELF is not automatically total downstream inflow. </a:t>
            </a:r>
            <a:r>
              <a:rPr sz="1600" b="0" dirty="0" err="1">
                <a:solidFill>
                  <a:schemeClr val="tx1"/>
                </a:solidFill>
                <a:latin typeface="Aptos"/>
                <a:ea typeface="Aptos"/>
                <a:cs typeface="Aptos"/>
              </a:rPr>
              <a:t>Nickajack</a:t>
            </a:r>
            <a:r>
              <a:rPr sz="16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 remains a model node but has no valid test reference.</a:t>
            </a:r>
          </a:p>
        </p:txBody>
      </p:sp>
    </p:spTree>
    <p:extLst>
      <p:ext uri="{BB962C8B-B14F-4D97-AF65-F5344CB8AC3E}">
        <p14:creationId xmlns:p14="http://schemas.microsoft.com/office/powerpoint/2010/main" val="398680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CE04CD-1494-4F25-A0DE-0B98F8B0EEA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8448675" y="2286000"/>
            <a:ext cx="628650" cy="0"/>
          </a:xfrm>
          <a:prstGeom prst="straightConnector1">
            <a:avLst/>
          </a:prstGeom>
          <a:ln w="19050">
            <a:solidFill>
              <a:srgbClr val="007A33"/>
            </a:solidFill>
            <a:tailEnd type="arrow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DB0680-BB23-4122-B9FC-0D097668A63D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581650" y="2286000"/>
            <a:ext cx="628650" cy="0"/>
          </a:xfrm>
          <a:prstGeom prst="straightConnector1">
            <a:avLst/>
          </a:prstGeom>
          <a:ln w="19050">
            <a:solidFill>
              <a:srgbClr val="007A33"/>
            </a:solidFill>
            <a:tailEnd type="arrow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198833-6BC1-4B27-9047-5D40E5522919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714625" y="2286000"/>
            <a:ext cx="628650" cy="0"/>
          </a:xfrm>
          <a:prstGeom prst="straightConnector1">
            <a:avLst/>
          </a:prstGeom>
          <a:ln w="19050">
            <a:solidFill>
              <a:srgbClr val="007A33"/>
            </a:solidFill>
            <a:tailEnd type="arrow" w="med" len="med"/>
          </a:ln>
        </p:spPr>
      </p:cxnSp>
      <p:sp>
        <p:nvSpPr>
          <p:cNvPr id="22" name="Shared LSTM + GNN + site-specific heads">
            <a:extLst>
              <a:ext uri="{FF2B5EF4-FFF2-40B4-BE49-F238E27FC236}">
                <a16:creationId xmlns:a16="http://schemas.microsoft.com/office/drawing/2014/main" id="{FB8E48D2-FA88-462C-B0B3-95266B4C2AA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Shared LSTM + GNN + site-specific heads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5C1AB-8BFE-42B3-AE8F-90565F5B8BE8}"/>
              </a:ext>
            </a:extLst>
          </p:cNvPr>
          <p:cNvSpPr>
            <a:spLocks noGrp="1"/>
          </p:cNvSpPr>
          <p:nvPr/>
        </p:nvSpPr>
        <p:spPr>
          <a:xfrm>
            <a:off x="476250" y="1771650"/>
            <a:ext cx="2238375" cy="1028700"/>
          </a:xfrm>
          <a:prstGeom prst="rect">
            <a:avLst/>
          </a:prstGeom>
          <a:solidFill>
            <a:srgbClr val="F2F6F3"/>
          </a:solidFill>
          <a:ln w="11430">
            <a:solidFill>
              <a:srgbClr val="007A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13 weekly steps&#10;P, T, runoff, elevation">
            <a:extLst>
              <a:ext uri="{FF2B5EF4-FFF2-40B4-BE49-F238E27FC236}">
                <a16:creationId xmlns:a16="http://schemas.microsoft.com/office/drawing/2014/main" id="{1FEDAA4D-70C7-4D4A-AD4E-91CEB63DD75A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19526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73A36"/>
                </a:solidFill>
                <a:latin typeface="Aptos"/>
                <a:ea typeface="Aptos"/>
                <a:cs typeface="Aptos"/>
              </a:rPr>
              <a:t>13 weekly steps</a:t>
            </a:r>
          </a:p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73A36"/>
                </a:solidFill>
                <a:latin typeface="Aptos"/>
                <a:ea typeface="Aptos"/>
                <a:cs typeface="Aptos"/>
              </a:rPr>
              <a:t>P, T, runoff, elevation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CA0A5-6ADC-4ABB-BE9E-F5F495CF8FA3}"/>
              </a:ext>
            </a:extLst>
          </p:cNvPr>
          <p:cNvSpPr>
            <a:spLocks noGrp="1"/>
          </p:cNvSpPr>
          <p:nvPr/>
        </p:nvSpPr>
        <p:spPr>
          <a:xfrm>
            <a:off x="3343275" y="1771650"/>
            <a:ext cx="2238375" cy="1028700"/>
          </a:xfrm>
          <a:prstGeom prst="rect">
            <a:avLst/>
          </a:prstGeom>
          <a:solidFill>
            <a:srgbClr val="F2F6F3"/>
          </a:solidFill>
          <a:ln w="11430">
            <a:solidFill>
              <a:srgbClr val="007A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red LSTM&#10;64 learned features">
            <a:extLst>
              <a:ext uri="{FF2B5EF4-FFF2-40B4-BE49-F238E27FC236}">
                <a16:creationId xmlns:a16="http://schemas.microsoft.com/office/drawing/2014/main" id="{709E6104-620B-4CDB-B8E7-D5E748B1CD80}"/>
              </a:ext>
            </a:extLst>
          </p:cNvPr>
          <p:cNvSpPr>
            <a:spLocks noGrp="1"/>
          </p:cNvSpPr>
          <p:nvPr/>
        </p:nvSpPr>
        <p:spPr>
          <a:xfrm>
            <a:off x="3486150" y="1885950"/>
            <a:ext cx="19526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Shared LSTM</a:t>
            </a:r>
          </a:p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64 learned features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DB631-01C0-4C8F-8B4F-FFFD9AC10F7C}"/>
              </a:ext>
            </a:extLst>
          </p:cNvPr>
          <p:cNvSpPr>
            <a:spLocks noGrp="1"/>
          </p:cNvSpPr>
          <p:nvPr/>
        </p:nvSpPr>
        <p:spPr>
          <a:xfrm>
            <a:off x="6210300" y="1771650"/>
            <a:ext cx="2238375" cy="1028700"/>
          </a:xfrm>
          <a:prstGeom prst="rect">
            <a:avLst/>
          </a:prstGeom>
          <a:solidFill>
            <a:srgbClr val="F2F6F3"/>
          </a:solidFill>
          <a:ln w="11430">
            <a:solidFill>
              <a:srgbClr val="007A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3 GNN layers&#10;Upstream feature exchange">
            <a:extLst>
              <a:ext uri="{FF2B5EF4-FFF2-40B4-BE49-F238E27FC236}">
                <a16:creationId xmlns:a16="http://schemas.microsoft.com/office/drawing/2014/main" id="{3A8D74F7-8182-4061-B12F-7BFA22636FC7}"/>
              </a:ext>
            </a:extLst>
          </p:cNvPr>
          <p:cNvSpPr>
            <a:spLocks noGrp="1"/>
          </p:cNvSpPr>
          <p:nvPr/>
        </p:nvSpPr>
        <p:spPr>
          <a:xfrm>
            <a:off x="6353175" y="1885950"/>
            <a:ext cx="19526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3 GNN layers</a:t>
            </a:r>
          </a:p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Upstream feature exchange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51C81-2EF5-4606-8C7F-66D80A8039D6}"/>
              </a:ext>
            </a:extLst>
          </p:cNvPr>
          <p:cNvSpPr>
            <a:spLocks noGrp="1"/>
          </p:cNvSpPr>
          <p:nvPr/>
        </p:nvSpPr>
        <p:spPr>
          <a:xfrm>
            <a:off x="9077325" y="1771650"/>
            <a:ext cx="2647950" cy="1028700"/>
          </a:xfrm>
          <a:prstGeom prst="rect">
            <a:avLst/>
          </a:prstGeom>
          <a:solidFill>
            <a:srgbClr val="F2F6F3"/>
          </a:solidFill>
          <a:ln w="11430">
            <a:solidFill>
              <a:srgbClr val="007A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ite-specific head&#10;One ELF estimate">
            <a:extLst>
              <a:ext uri="{FF2B5EF4-FFF2-40B4-BE49-F238E27FC236}">
                <a16:creationId xmlns:a16="http://schemas.microsoft.com/office/drawing/2014/main" id="{31D7F2E7-5D9C-404B-B628-E4DDACBB993A}"/>
              </a:ext>
            </a:extLst>
          </p:cNvPr>
          <p:cNvSpPr>
            <a:spLocks noGrp="1"/>
          </p:cNvSpPr>
          <p:nvPr/>
        </p:nvSpPr>
        <p:spPr>
          <a:xfrm>
            <a:off x="9220200" y="1885950"/>
            <a:ext cx="23622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Site-specific head</a:t>
            </a:r>
          </a:p>
          <a:p>
            <a:pPr algn="ctr">
              <a:buNone/>
              <a:defRPr sz="18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One ELF estimate</a:t>
            </a:r>
          </a:p>
        </p:txBody>
      </p:sp>
      <p:sp>
        <p:nvSpPr>
          <p:cNvPr id="14" name="LSTM learns time patterns">
            <a:extLst>
              <a:ext uri="{FF2B5EF4-FFF2-40B4-BE49-F238E27FC236}">
                <a16:creationId xmlns:a16="http://schemas.microsoft.com/office/drawing/2014/main" id="{B77FB3AE-7E08-4C0A-94AB-606090E43CFE}"/>
              </a:ext>
            </a:extLst>
          </p:cNvPr>
          <p:cNvSpPr>
            <a:spLocks noGrp="1"/>
          </p:cNvSpPr>
          <p:nvPr/>
        </p:nvSpPr>
        <p:spPr>
          <a:xfrm>
            <a:off x="476250" y="33147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007A33"/>
                </a:solidFill>
                <a:latin typeface="Aptos"/>
                <a:ea typeface="Aptos"/>
                <a:cs typeface="Aptos"/>
              </a:rPr>
              <a:t>LSTM learns time patterns</a:t>
            </a:r>
          </a:p>
        </p:txBody>
      </p:sp>
      <p:sp>
        <p:nvSpPr>
          <p:cNvPr id="15" name="The same weights process each site’s own history, including the t">
            <a:extLst>
              <a:ext uri="{FF2B5EF4-FFF2-40B4-BE49-F238E27FC236}">
                <a16:creationId xmlns:a16="http://schemas.microsoft.com/office/drawing/2014/main" id="{D9EA8116-14E1-4883-9EAA-CB6CFDD2A1DE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35242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The same weights process each site’s own history, including the target week.</a:t>
            </a:r>
          </a:p>
        </p:txBody>
      </p:sp>
      <p:sp>
        <p:nvSpPr>
          <p:cNvPr id="16" name="GNN adds upstream context">
            <a:extLst>
              <a:ext uri="{FF2B5EF4-FFF2-40B4-BE49-F238E27FC236}">
                <a16:creationId xmlns:a16="http://schemas.microsoft.com/office/drawing/2014/main" id="{AF18B7B1-24D1-4F57-8FA2-8438086D60CB}"/>
              </a:ext>
            </a:extLst>
          </p:cNvPr>
          <p:cNvSpPr>
            <a:spLocks noGrp="1"/>
          </p:cNvSpPr>
          <p:nvPr/>
        </p:nvSpPr>
        <p:spPr>
          <a:xfrm>
            <a:off x="4324350" y="33147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33"/>
                </a:solidFill>
                <a:latin typeface="Aptos"/>
                <a:ea typeface="Aptos"/>
                <a:cs typeface="Aptos"/>
              </a:rPr>
              <a:t>GNN adds upstream context</a:t>
            </a:r>
          </a:p>
        </p:txBody>
      </p:sp>
      <p:sp>
        <p:nvSpPr>
          <p:cNvPr id="17" name="52 nodes and 49 directed links. Three layers reach at most three ">
            <a:extLst>
              <a:ext uri="{FF2B5EF4-FFF2-40B4-BE49-F238E27FC236}">
                <a16:creationId xmlns:a16="http://schemas.microsoft.com/office/drawing/2014/main" id="{34AD549F-A7DF-4F66-A85D-CB49B33BAAE5}"/>
              </a:ext>
            </a:extLst>
          </p:cNvPr>
          <p:cNvSpPr>
            <a:spLocks noGrp="1"/>
          </p:cNvSpPr>
          <p:nvPr/>
        </p:nvSpPr>
        <p:spPr>
          <a:xfrm>
            <a:off x="4324350" y="4019550"/>
            <a:ext cx="35242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52 nodes and 49 directed links. Three layers reach at most three upstream links.</a:t>
            </a:r>
          </a:p>
        </p:txBody>
      </p:sp>
      <p:sp>
        <p:nvSpPr>
          <p:cNvPr id="18" name="Each site has its own head">
            <a:extLst>
              <a:ext uri="{FF2B5EF4-FFF2-40B4-BE49-F238E27FC236}">
                <a16:creationId xmlns:a16="http://schemas.microsoft.com/office/drawing/2014/main" id="{F39E0D30-7EBC-420E-BA15-A4A54E292B7E}"/>
              </a:ext>
            </a:extLst>
          </p:cNvPr>
          <p:cNvSpPr>
            <a:spLocks noGrp="1"/>
          </p:cNvSpPr>
          <p:nvPr/>
        </p:nvSpPr>
        <p:spPr>
          <a:xfrm>
            <a:off x="8172450" y="3314700"/>
            <a:ext cx="3524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33"/>
                </a:solidFill>
                <a:latin typeface="Aptos"/>
                <a:ea typeface="Aptos"/>
                <a:cs typeface="Aptos"/>
              </a:rPr>
              <a:t>Each site has its own head</a:t>
            </a:r>
          </a:p>
        </p:txBody>
      </p:sp>
      <p:sp>
        <p:nvSpPr>
          <p:cNvPr id="19" name="A small 64-to-1 mapping with Softplus produces a nonnegative esti">
            <a:extLst>
              <a:ext uri="{FF2B5EF4-FFF2-40B4-BE49-F238E27FC236}">
                <a16:creationId xmlns:a16="http://schemas.microsoft.com/office/drawing/2014/main" id="{AB30BC93-9D4D-4739-A1E2-4BA876F43346}"/>
              </a:ext>
            </a:extLst>
          </p:cNvPr>
          <p:cNvSpPr>
            <a:spLocks noGrp="1"/>
          </p:cNvSpPr>
          <p:nvPr/>
        </p:nvSpPr>
        <p:spPr>
          <a:xfrm>
            <a:off x="8172450" y="4019550"/>
            <a:ext cx="35242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A small 64-to-1 mapping with Softplus produces a nonnegative estimate.</a:t>
            </a:r>
          </a:p>
        </p:txBody>
      </p:sp>
      <p:sp>
        <p:nvSpPr>
          <p:cNvPr id="20" name="46,068 trainable parameters">
            <a:extLst>
              <a:ext uri="{FF2B5EF4-FFF2-40B4-BE49-F238E27FC236}">
                <a16:creationId xmlns:a16="http://schemas.microsoft.com/office/drawing/2014/main" id="{F3F2D6C4-7A19-4082-A9FF-E6145BB3F25E}"/>
              </a:ext>
            </a:extLst>
          </p:cNvPr>
          <p:cNvSpPr>
            <a:spLocks noGrp="1"/>
          </p:cNvSpPr>
          <p:nvPr/>
        </p:nvSpPr>
        <p:spPr>
          <a:xfrm>
            <a:off x="476250" y="53721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1875" dirty="0"/>
              <a:t>46,068 trainable parameters</a:t>
            </a:r>
          </a:p>
        </p:txBody>
      </p:sp>
    </p:spTree>
    <p:extLst>
      <p:ext uri="{BB962C8B-B14F-4D97-AF65-F5344CB8AC3E}">
        <p14:creationId xmlns:p14="http://schemas.microsoft.com/office/powerpoint/2010/main" val="358583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ining, masks and test evaluation">
            <a:extLst>
              <a:ext uri="{FF2B5EF4-FFF2-40B4-BE49-F238E27FC236}">
                <a16:creationId xmlns:a16="http://schemas.microsoft.com/office/drawing/2014/main" id="{9F300B1F-1E14-438F-8B8A-10D02379F01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Training</a:t>
            </a:r>
            <a:r>
              <a:rPr lang="en-US" dirty="0"/>
              <a:t>, validation, testing</a:t>
            </a:r>
            <a:endParaRPr sz="2700" b="1" dirty="0">
              <a:solidFill>
                <a:srgbClr val="373A36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4F076-D889-46CB-BCC3-E9B028222C69}"/>
              </a:ext>
            </a:extLst>
          </p:cNvPr>
          <p:cNvGraphicFramePr/>
          <p:nvPr/>
        </p:nvGraphicFramePr>
        <p:xfrm>
          <a:off x="476250" y="1476375"/>
          <a:ext cx="11239500" cy="21907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 period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Eligible site-weeks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>
                      <a:solidFill>
                        <a:srgbClr val="D7DFD9"/>
                      </a:solidFill>
                      <a:prstDash val="soli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00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Training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1982–2004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50,084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2005–2009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9,868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Testing</a:t>
                      </a:r>
                    </a:p>
                  </a:txBody>
                  <a:tcPr marL="142875" marR="114300" marT="95250" marB="95250" anchor="ctr">
                    <a:lnL w="6668">
                      <a:solidFill>
                        <a:srgbClr val="D7DFD9"/>
                      </a:solidFill>
                      <a:prstDash val="soli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2010-01-04 to 2016-10-09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373A36"/>
                          </a:solidFill>
                          <a:latin typeface="Aptos"/>
                          <a:ea typeface="Aptos"/>
                          <a:cs typeface="Aptos"/>
                        </a:rPr>
                        <a:t>15,025</a:t>
                      </a:r>
                    </a:p>
                  </a:txBody>
                  <a:tcPr marL="142875" marR="114300" marT="95250" marB="95250" anchor="ctr">
                    <a:lnL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FD9"/>
                      </a:solidFill>
                      <a:prstDash val="solid"/>
                    </a:lnR>
                    <a:lnT w="6668" cap="flat" cmpd="sng" algn="ctr">
                      <a:solidFill>
                        <a:srgbClr val="D7D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00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ppendix: weekly NSE at each location">
            <a:extLst>
              <a:ext uri="{FF2B5EF4-FFF2-40B4-BE49-F238E27FC236}">
                <a16:creationId xmlns:a16="http://schemas.microsoft.com/office/drawing/2014/main" id="{170EAA50-0338-4D51-B219-7653FF252F2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755931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weekly NSE at each location</a:t>
            </a:r>
          </a:p>
        </p:txBody>
      </p:sp>
      <p:sp>
        <p:nvSpPr>
          <p:cNvPr id="5" name="Median NSE 0.826. Chilhowee remains below zero. Nickajack is not ">
            <a:extLst>
              <a:ext uri="{FF2B5EF4-FFF2-40B4-BE49-F238E27FC236}">
                <a16:creationId xmlns:a16="http://schemas.microsoft.com/office/drawing/2014/main" id="{0155750F-6FFC-4FDF-A80F-3B0B441CE19F}"/>
              </a:ext>
            </a:extLst>
          </p:cNvPr>
          <p:cNvSpPr>
            <a:spLocks noGrp="1"/>
          </p:cNvSpPr>
          <p:nvPr/>
        </p:nvSpPr>
        <p:spPr>
          <a:xfrm>
            <a:off x="308084" y="1553560"/>
            <a:ext cx="5525157" cy="248241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marL="285750" indent="-285750" algn="l">
              <a:buFont typeface="Wingdings" pitchFamily="2" charset="2"/>
              <a:buChar char="q"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The median NSE for all locations is 0.826. </a:t>
            </a:r>
          </a:p>
          <a:p>
            <a:pPr marL="285750" indent="-285750" algn="l">
              <a:buFont typeface="Wingdings" pitchFamily="2" charset="2"/>
              <a:buChar char="q"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sz="2000" b="0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285750" indent="-285750" algn="l">
              <a:buFont typeface="Wingdings" pitchFamily="2" charset="2"/>
              <a:buChar char="q"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Chilhowee remains below zero. </a:t>
            </a:r>
          </a:p>
          <a:p>
            <a:pPr algn="l"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endParaRPr lang="en-US" sz="2000" b="0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285750" indent="-285750" algn="l">
              <a:buFont typeface="Wingdings" pitchFamily="2" charset="2"/>
              <a:buChar char="q"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lang="en-US" sz="2000" b="0" dirty="0" err="1">
                <a:solidFill>
                  <a:schemeClr val="tx1"/>
                </a:solidFill>
                <a:latin typeface="Aptos"/>
                <a:ea typeface="Aptos"/>
                <a:cs typeface="Aptos"/>
              </a:rPr>
              <a:t>Nickajack</a:t>
            </a:r>
            <a:r>
              <a:rPr lang="en-US" sz="20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 is not scored because no valid test reference remains.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DE0608-2453-DE1D-0DA0-D8843AE140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6" r="1441" b="6054"/>
          <a:stretch>
            <a:fillRect/>
          </a:stretch>
        </p:blipFill>
        <p:spPr>
          <a:xfrm>
            <a:off x="6273007" y="126124"/>
            <a:ext cx="5461793" cy="64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5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parate XGBoost models">
            <a:extLst>
              <a:ext uri="{FF2B5EF4-FFF2-40B4-BE49-F238E27FC236}">
                <a16:creationId xmlns:a16="http://schemas.microsoft.com/office/drawing/2014/main" id="{D23B391C-6E2D-4270-AAA7-901B566A0AA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73A36"/>
                </a:solidFill>
                <a:latin typeface="Aptos"/>
                <a:ea typeface="Aptos"/>
                <a:cs typeface="Aptos"/>
              </a:rPr>
              <a:t>Separate XGBoost models</a:t>
            </a:r>
          </a:p>
        </p:txBody>
      </p:sp>
      <p:sp>
        <p:nvSpPr>
          <p:cNvPr id="2" name="A simpler per-site benchmark uses the same weekly inputs, masks a">
            <a:extLst>
              <a:ext uri="{FF2B5EF4-FFF2-40B4-BE49-F238E27FC236}">
                <a16:creationId xmlns:a16="http://schemas.microsoft.com/office/drawing/2014/main" id="{2AFD84CE-4334-41B0-A527-7FD334166A8F}"/>
              </a:ext>
            </a:extLst>
          </p:cNvPr>
          <p:cNvSpPr>
            <a:spLocks noGrp="1"/>
          </p:cNvSpPr>
          <p:nvPr/>
        </p:nvSpPr>
        <p:spPr>
          <a:xfrm>
            <a:off x="476250" y="942975"/>
            <a:ext cx="11239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A simpler per-site benchmark uses the same weekly inputs, </a:t>
            </a:r>
            <a:r>
              <a:rPr lang="en-US" sz="1575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data </a:t>
            </a:r>
            <a:r>
              <a:rPr lang="en-US" dirty="0">
                <a:solidFill>
                  <a:schemeClr val="tx1"/>
                </a:solidFill>
              </a:rPr>
              <a:t>splits</a:t>
            </a:r>
            <a:endParaRPr sz="1575" b="0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52 independent regressors">
            <a:extLst>
              <a:ext uri="{FF2B5EF4-FFF2-40B4-BE49-F238E27FC236}">
                <a16:creationId xmlns:a16="http://schemas.microsoft.com/office/drawing/2014/main" id="{5D52D2AB-2993-437E-9123-90305C5645BE}"/>
              </a:ext>
            </a:extLst>
          </p:cNvPr>
          <p:cNvSpPr>
            <a:spLocks noGrp="1"/>
          </p:cNvSpPr>
          <p:nvPr/>
        </p:nvSpPr>
        <p:spPr>
          <a:xfrm>
            <a:off x="1093732" y="1507905"/>
            <a:ext cx="552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52 independent regressors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924C404C-70C9-4034-A63C-8DE3A4873D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329009"/>
              </p:ext>
            </p:extLst>
          </p:nvPr>
        </p:nvGraphicFramePr>
        <p:xfrm>
          <a:off x="735724" y="2088930"/>
          <a:ext cx="6619875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his is descriptive importance.&#10;It does not measure causal value&#10;">
            <a:extLst>
              <a:ext uri="{FF2B5EF4-FFF2-40B4-BE49-F238E27FC236}">
                <a16:creationId xmlns:a16="http://schemas.microsoft.com/office/drawing/2014/main" id="{6C84492D-88E8-4A84-831F-400707A84748}"/>
              </a:ext>
            </a:extLst>
          </p:cNvPr>
          <p:cNvSpPr>
            <a:spLocks noGrp="1"/>
          </p:cNvSpPr>
          <p:nvPr/>
        </p:nvSpPr>
        <p:spPr>
          <a:xfrm>
            <a:off x="1009649" y="4139760"/>
            <a:ext cx="8659868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lang="en-US"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Runoff dominates tree split gain. </a:t>
            </a:r>
            <a:r>
              <a:rPr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This is descriptive importance</a:t>
            </a:r>
            <a:r>
              <a:rPr lang="en-US"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, it describes how the fitted trees used in the inputs</a:t>
            </a:r>
            <a:r>
              <a:rPr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.</a:t>
            </a:r>
            <a:r>
              <a:rPr lang="en-US"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It does not measure causal value</a:t>
            </a:r>
            <a:r>
              <a:rPr lang="en-US"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or the effect of removing runoff.</a:t>
            </a:r>
          </a:p>
        </p:txBody>
      </p:sp>
      <p:sp>
        <p:nvSpPr>
          <p:cNvPr id="14" name="This is descriptive importance.&#10;It does not measure causal value&#10;">
            <a:extLst>
              <a:ext uri="{FF2B5EF4-FFF2-40B4-BE49-F238E27FC236}">
                <a16:creationId xmlns:a16="http://schemas.microsoft.com/office/drawing/2014/main" id="{3396ADAC-1AF6-BFAE-11C9-5D271F00172A}"/>
              </a:ext>
            </a:extLst>
          </p:cNvPr>
          <p:cNvSpPr>
            <a:spLocks noGrp="1"/>
          </p:cNvSpPr>
          <p:nvPr/>
        </p:nvSpPr>
        <p:spPr>
          <a:xfrm>
            <a:off x="1093732" y="5342211"/>
            <a:ext cx="6768662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lang="en-US"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Mean NSE of all location: 0.773</a:t>
            </a:r>
            <a:endParaRPr sz="1725" b="0" dirty="0">
              <a:solidFill>
                <a:srgbClr val="373A3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8679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ppendix: XGBoost minus site-head NSE">
            <a:extLst>
              <a:ext uri="{FF2B5EF4-FFF2-40B4-BE49-F238E27FC236}">
                <a16:creationId xmlns:a16="http://schemas.microsoft.com/office/drawing/2014/main" id="{2F34B1AE-943A-44A5-88A3-9E0DBECC9D0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 err="1">
                <a:solidFill>
                  <a:srgbClr val="373A36"/>
                </a:solidFill>
                <a:latin typeface="Aptos"/>
                <a:ea typeface="Aptos"/>
                <a:cs typeface="Aptos"/>
              </a:rPr>
              <a:t>XGBoost</a:t>
            </a: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 minus site-head NSE</a:t>
            </a:r>
          </a:p>
        </p:txBody>
      </p:sp>
      <p:sp>
        <p:nvSpPr>
          <p:cNvPr id="2" name="Positive values favor XGBoost. Negative values favor the shared L">
            <a:extLst>
              <a:ext uri="{FF2B5EF4-FFF2-40B4-BE49-F238E27FC236}">
                <a16:creationId xmlns:a16="http://schemas.microsoft.com/office/drawing/2014/main" id="{C53F286E-A6F8-470E-BB38-D67F6D40E847}"/>
              </a:ext>
            </a:extLst>
          </p:cNvPr>
          <p:cNvSpPr>
            <a:spLocks noGrp="1"/>
          </p:cNvSpPr>
          <p:nvPr/>
        </p:nvSpPr>
        <p:spPr>
          <a:xfrm>
            <a:off x="476250" y="942975"/>
            <a:ext cx="11239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Positive values favor </a:t>
            </a:r>
            <a:r>
              <a:rPr sz="1600" b="0" dirty="0" err="1">
                <a:solidFill>
                  <a:schemeClr val="tx1"/>
                </a:solidFill>
                <a:latin typeface="Aptos"/>
                <a:ea typeface="Aptos"/>
                <a:cs typeface="Aptos"/>
              </a:rPr>
              <a:t>XGBoost</a:t>
            </a:r>
            <a:r>
              <a:rPr sz="16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. Negative values favor the shared LSTM + GNN + site-head model.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59A7AAC-063E-4A1A-9F0C-6322838207F6}"/>
              </a:ext>
            </a:extLst>
          </p:cNvPr>
          <p:cNvGraphicFramePr/>
          <p:nvPr/>
        </p:nvGraphicFramePr>
        <p:xfrm>
          <a:off x="428625" y="1400175"/>
          <a:ext cx="5667375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0BC9930B-E0E9-447F-A6D9-D5FCC0A5D746}"/>
              </a:ext>
            </a:extLst>
          </p:cNvPr>
          <p:cNvGraphicFramePr/>
          <p:nvPr/>
        </p:nvGraphicFramePr>
        <p:xfrm>
          <a:off x="6324600" y="1400175"/>
          <a:ext cx="5524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9943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gional CAMELS pretraining">
            <a:extLst>
              <a:ext uri="{FF2B5EF4-FFF2-40B4-BE49-F238E27FC236}">
                <a16:creationId xmlns:a16="http://schemas.microsoft.com/office/drawing/2014/main" id="{D717E0FA-1AAE-4E75-B810-0ACCF116D284}"/>
              </a:ext>
            </a:extLst>
          </p:cNvPr>
          <p:cNvSpPr>
            <a:spLocks noGrp="1"/>
          </p:cNvSpPr>
          <p:nvPr/>
        </p:nvSpPr>
        <p:spPr>
          <a:xfrm>
            <a:off x="325587" y="161925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Regional CAMELS pretraining</a:t>
            </a:r>
          </a:p>
        </p:txBody>
      </p:sp>
      <p:sp>
        <p:nvSpPr>
          <p:cNvPr id="2" name="47 regional watersheds provide additional training examples befor">
            <a:extLst>
              <a:ext uri="{FF2B5EF4-FFF2-40B4-BE49-F238E27FC236}">
                <a16:creationId xmlns:a16="http://schemas.microsoft.com/office/drawing/2014/main" id="{EF69C5A9-4632-42FB-AE56-D6858741324B}"/>
              </a:ext>
            </a:extLst>
          </p:cNvPr>
          <p:cNvSpPr>
            <a:spLocks noGrp="1"/>
          </p:cNvSpPr>
          <p:nvPr/>
        </p:nvSpPr>
        <p:spPr>
          <a:xfrm>
            <a:off x="476250" y="942975"/>
            <a:ext cx="11239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47 regional watersheds provide additional training examples before TVA fine-tuning.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E0700-DF6D-4428-9621-70851D6C1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587" y="1409700"/>
            <a:ext cx="6244926" cy="4591050"/>
          </a:xfrm>
          <a:prstGeom prst="rect">
            <a:avLst/>
          </a:prstGeom>
        </p:spPr>
      </p:pic>
      <p:sp>
        <p:nvSpPr>
          <p:cNvPr id="4" name="Pretrain the shared LSTM">
            <a:extLst>
              <a:ext uri="{FF2B5EF4-FFF2-40B4-BE49-F238E27FC236}">
                <a16:creationId xmlns:a16="http://schemas.microsoft.com/office/drawing/2014/main" id="{B8ECC222-9C11-44DF-9B95-CF27C3B95505}"/>
              </a:ext>
            </a:extLst>
          </p:cNvPr>
          <p:cNvSpPr>
            <a:spLocks noGrp="1"/>
          </p:cNvSpPr>
          <p:nvPr/>
        </p:nvSpPr>
        <p:spPr>
          <a:xfrm>
            <a:off x="7029450" y="14763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A33"/>
                </a:solidFill>
                <a:latin typeface="Aptos"/>
                <a:ea typeface="Aptos"/>
                <a:cs typeface="Aptos"/>
              </a:rPr>
              <a:t>Pretrain the shared LSTM</a:t>
            </a:r>
          </a:p>
        </p:txBody>
      </p:sp>
      <p:sp>
        <p:nvSpPr>
          <p:cNvPr id="5" name="Weekly P, T, runoff and elevation&#10;USGS streamflow targets, not TV">
            <a:extLst>
              <a:ext uri="{FF2B5EF4-FFF2-40B4-BE49-F238E27FC236}">
                <a16:creationId xmlns:a16="http://schemas.microsoft.com/office/drawing/2014/main" id="{9F015CCF-AC87-4A3F-924F-7D1A62BA0292}"/>
              </a:ext>
            </a:extLst>
          </p:cNvPr>
          <p:cNvSpPr>
            <a:spLocks noGrp="1"/>
          </p:cNvSpPr>
          <p:nvPr/>
        </p:nvSpPr>
        <p:spPr>
          <a:xfrm>
            <a:off x="7029450" y="2009775"/>
            <a:ext cx="4667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Weekly P, T, runoff and elevation</a:t>
            </a:r>
          </a:p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USGS streamflow targets, not TVA ELF</a:t>
            </a:r>
          </a:p>
        </p:txBody>
      </p:sp>
      <p:sp>
        <p:nvSpPr>
          <p:cNvPr id="6" name="Fine-tune on unchanged TVA data">
            <a:extLst>
              <a:ext uri="{FF2B5EF4-FFF2-40B4-BE49-F238E27FC236}">
                <a16:creationId xmlns:a16="http://schemas.microsoft.com/office/drawing/2014/main" id="{AE401F86-1ECE-4AD2-BD6F-BCED9038D253}"/>
              </a:ext>
            </a:extLst>
          </p:cNvPr>
          <p:cNvSpPr>
            <a:spLocks noGrp="1"/>
          </p:cNvSpPr>
          <p:nvPr/>
        </p:nvSpPr>
        <p:spPr>
          <a:xfrm>
            <a:off x="7029450" y="30003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7A33"/>
                </a:solidFill>
                <a:latin typeface="Aptos"/>
                <a:ea typeface="Aptos"/>
                <a:cs typeface="Aptos"/>
              </a:rPr>
              <a:t>Fine-tune on unchanged TVA data</a:t>
            </a:r>
          </a:p>
        </p:txBody>
      </p:sp>
      <p:sp>
        <p:nvSpPr>
          <p:cNvPr id="7" name="Transfer only LSTM weights.&#10;Initialize GNN and site heads anew.&#10;T">
            <a:extLst>
              <a:ext uri="{FF2B5EF4-FFF2-40B4-BE49-F238E27FC236}">
                <a16:creationId xmlns:a16="http://schemas.microsoft.com/office/drawing/2014/main" id="{F7323776-6F90-428E-82BC-DBBC843C2788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4667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Transfer only LSTM weights.</a:t>
            </a:r>
          </a:p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Initialize GNN and site heads anew.</a:t>
            </a:r>
          </a:p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3A36"/>
                </a:solidFill>
                <a:latin typeface="Aptos"/>
                <a:ea typeface="Aptos"/>
                <a:cs typeface="Aptos"/>
              </a:rPr>
              <a:t>Train all components on the TVA training split.</a:t>
            </a:r>
          </a:p>
        </p:txBody>
      </p:sp>
      <p:sp>
        <p:nvSpPr>
          <p:cNvPr id="8" name="Median NSE 0.824 vs 0.826">
            <a:extLst>
              <a:ext uri="{FF2B5EF4-FFF2-40B4-BE49-F238E27FC236}">
                <a16:creationId xmlns:a16="http://schemas.microsoft.com/office/drawing/2014/main" id="{A595B1FE-4347-4E0C-991F-EE2F5EDB51A8}"/>
              </a:ext>
            </a:extLst>
          </p:cNvPr>
          <p:cNvSpPr>
            <a:spLocks noGrp="1"/>
          </p:cNvSpPr>
          <p:nvPr/>
        </p:nvSpPr>
        <p:spPr>
          <a:xfrm>
            <a:off x="7029450" y="47910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00" b="1">
                <a:solidFill>
                  <a:srgbClr val="007A33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007A33"/>
                </a:solidFill>
                <a:latin typeface="Aptos"/>
                <a:ea typeface="Aptos"/>
                <a:cs typeface="Aptos"/>
              </a:rPr>
              <a:t>Median NSE 0.824 vs 0.826</a:t>
            </a:r>
          </a:p>
        </p:txBody>
      </p:sp>
      <p:sp>
        <p:nvSpPr>
          <p:cNvPr id="9" name="17 sites improve, 34 worsen.&#10;Median KGE rises slightly to 0.824.">
            <a:extLst>
              <a:ext uri="{FF2B5EF4-FFF2-40B4-BE49-F238E27FC236}">
                <a16:creationId xmlns:a16="http://schemas.microsoft.com/office/drawing/2014/main" id="{1364255A-8E7C-4C9E-89FB-A58ED14807F2}"/>
              </a:ext>
            </a:extLst>
          </p:cNvPr>
          <p:cNvSpPr>
            <a:spLocks noGrp="1"/>
          </p:cNvSpPr>
          <p:nvPr/>
        </p:nvSpPr>
        <p:spPr>
          <a:xfrm>
            <a:off x="7029450" y="5324475"/>
            <a:ext cx="466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17 sites improve, 34 worsen.</a:t>
            </a:r>
          </a:p>
        </p:txBody>
      </p:sp>
    </p:spTree>
    <p:extLst>
      <p:ext uri="{BB962C8B-B14F-4D97-AF65-F5344CB8AC3E}">
        <p14:creationId xmlns:p14="http://schemas.microsoft.com/office/powerpoint/2010/main" val="97589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ppendix: CAMELS comparison and interpretation">
            <a:extLst>
              <a:ext uri="{FF2B5EF4-FFF2-40B4-BE49-F238E27FC236}">
                <a16:creationId xmlns:a16="http://schemas.microsoft.com/office/drawing/2014/main" id="{2B7BC069-1136-4F6B-BD0C-E3E5F4CC05C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700" b="1">
                <a:solidFill>
                  <a:srgbClr val="373A36"/>
                </a:solidFill>
                <a:latin typeface="Aptos"/>
                <a:ea typeface="Aptos"/>
                <a:cs typeface="Aptos"/>
              </a:defRPr>
            </a:pPr>
            <a:r>
              <a:rPr sz="2700" b="1" dirty="0">
                <a:solidFill>
                  <a:srgbClr val="373A36"/>
                </a:solidFill>
                <a:latin typeface="Aptos"/>
                <a:ea typeface="Aptos"/>
                <a:cs typeface="Aptos"/>
              </a:rPr>
              <a:t>CAMELS comparison and interpretation</a:t>
            </a:r>
          </a:p>
        </p:txBody>
      </p:sp>
      <p:sp>
        <p:nvSpPr>
          <p:cNvPr id="2" name="Regional pretraining does not improve median NSE in this single e">
            <a:extLst>
              <a:ext uri="{FF2B5EF4-FFF2-40B4-BE49-F238E27FC236}">
                <a16:creationId xmlns:a16="http://schemas.microsoft.com/office/drawing/2014/main" id="{DC0F04CA-1817-404B-A428-D6A828F76A7B}"/>
              </a:ext>
            </a:extLst>
          </p:cNvPr>
          <p:cNvSpPr>
            <a:spLocks noGrp="1"/>
          </p:cNvSpPr>
          <p:nvPr/>
        </p:nvSpPr>
        <p:spPr>
          <a:xfrm>
            <a:off x="476250" y="942975"/>
            <a:ext cx="11239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Regional pretraining does not improve median NSE in this single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27509-E0FC-4A5E-BB5D-97AD778A1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602" y="1457325"/>
            <a:ext cx="5331297" cy="4067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3D7770-A635-4EBD-99C5-25C8A8803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2496" y="1457325"/>
            <a:ext cx="5332509" cy="3914775"/>
          </a:xfrm>
          <a:prstGeom prst="rect">
            <a:avLst/>
          </a:prstGeom>
        </p:spPr>
      </p:pic>
      <p:sp>
        <p:nvSpPr>
          <p:cNvPr id="5" name="Possible explanations include target mismatch and domain differen">
            <a:extLst>
              <a:ext uri="{FF2B5EF4-FFF2-40B4-BE49-F238E27FC236}">
                <a16:creationId xmlns:a16="http://schemas.microsoft.com/office/drawing/2014/main" id="{A3E6AB5E-F994-40ED-A657-2E99B3E5F556}"/>
              </a:ext>
            </a:extLst>
          </p:cNvPr>
          <p:cNvSpPr>
            <a:spLocks noGrp="1"/>
          </p:cNvSpPr>
          <p:nvPr/>
        </p:nvSpPr>
        <p:spPr>
          <a:xfrm>
            <a:off x="476250" y="5810250"/>
            <a:ext cx="1123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>
                <a:solidFill>
                  <a:srgbClr val="606B65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Possible explanations include target mismatch and domain differences. These hypotheses were not isolated by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1212476145"/>
      </p:ext>
    </p:extLst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RNL Color T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RNL Color T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462</Words>
  <Application>Microsoft Macintosh PowerPoint</Application>
  <DocSecurity>0</DocSecurity>
  <PresentationFormat>Widescreen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Light</vt:lpstr>
      <vt:lpstr>Arial</vt:lpstr>
      <vt:lpstr>Wingdings</vt:lpstr>
      <vt:lpstr>ORNL Presentation</vt:lpstr>
      <vt:lpstr>Weekly water availability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Wang, Dali</cp:lastModifiedBy>
  <cp:revision>4</cp:revision>
  <dcterms:created xsi:type="dcterms:W3CDTF">2026-10-23T03:40:06Z</dcterms:created>
  <dcterms:modified xsi:type="dcterms:W3CDTF">2026-10-23T15:50:23Z</dcterms:modified>
</cp:coreProperties>
</file>